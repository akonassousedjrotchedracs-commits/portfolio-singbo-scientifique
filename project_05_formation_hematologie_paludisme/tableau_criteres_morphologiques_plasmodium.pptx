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CRITÈRES MORPHOLOGIQUES D’IDENTIFICATION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051560"/>
          <a:ext cx="11548872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606040"/>
                <a:gridCol w="2240280"/>
                <a:gridCol w="2423160"/>
                <a:gridCol w="2770632"/>
              </a:tblGrid>
              <a:tr h="830580">
                <a:tc>
                  <a:txBody>
                    <a:bodyPr/>
                    <a:lstStyle/>
                    <a:p>
                      <a:pPr algn="ctr"/>
                      <a:r>
                        <a:rPr sz="1250" b="1"/>
                        <a:t>Critère</a:t>
                      </a:r>
                    </a:p>
                  </a:txBody>
                  <a:tcPr anchor="ctr" marL="54864" marR="54864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/>
                        <a:t>P. falciparum</a:t>
                      </a:r>
                    </a:p>
                  </a:txBody>
                  <a:tcPr anchor="ctr" marL="54864" marR="54864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/>
                        <a:t>P. malariae</a:t>
                      </a:r>
                    </a:p>
                  </a:txBody>
                  <a:tcPr anchor="ctr" marL="54864" marR="54864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/>
                        <a:t>P. ovale</a:t>
                      </a:r>
                    </a:p>
                  </a:txBody>
                  <a:tcPr anchor="ctr" marL="54864" marR="54864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/>
                        <a:t>P. vivax</a:t>
                      </a:r>
                    </a:p>
                  </a:txBody>
                  <a:tcPr anchor="ctr" marL="54864" marR="54864" marT="36576" marB="36576"/>
                </a:tc>
              </a:tr>
              <a:tr h="830580"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Hématie parasitée</a:t>
                      </a:r>
                    </a:p>
                  </a:txBody>
                  <a:tcPr anchor="ctr" marL="54864" marR="54864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Taille conservée</a:t>
                      </a:r>
                    </a:p>
                  </a:txBody>
                  <a:tcPr anchor="ctr" marL="54864" marR="54864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Plus petite</a:t>
                      </a:r>
                    </a:p>
                  </a:txBody>
                  <a:tcPr anchor="ctr" marL="54864" marR="54864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Plus grande, ovale/frangée</a:t>
                      </a:r>
                    </a:p>
                  </a:txBody>
                  <a:tcPr anchor="ctr" marL="54864" marR="54864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Plus grande, déformée</a:t>
                      </a:r>
                    </a:p>
                  </a:txBody>
                  <a:tcPr anchor="ctr" marL="54864" marR="54864" marT="36576" marB="36576"/>
                </a:tc>
              </a:tr>
              <a:tr h="830580"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Trophozoïte</a:t>
                      </a:r>
                    </a:p>
                  </a:txBody>
                  <a:tcPr anchor="ctr" marL="54864" marR="54864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Anneau fin, parfois 2 noyaux</a:t>
                      </a:r>
                    </a:p>
                  </a:txBody>
                  <a:tcPr anchor="ctr" marL="54864" marR="54864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Compact / bande équatoriale</a:t>
                      </a:r>
                    </a:p>
                  </a:txBody>
                  <a:tcPr anchor="ctr" marL="54864" marR="54864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Ovale, compact</a:t>
                      </a:r>
                    </a:p>
                  </a:txBody>
                  <a:tcPr anchor="ctr" marL="54864" marR="54864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Amiboïde</a:t>
                      </a:r>
                    </a:p>
                  </a:txBody>
                  <a:tcPr anchor="ctr" marL="54864" marR="54864" marT="36576" marB="36576"/>
                </a:tc>
              </a:tr>
              <a:tr h="830580"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Granulations</a:t>
                      </a:r>
                    </a:p>
                  </a:txBody>
                  <a:tcPr anchor="ctr" marL="54864" marR="54864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Maurer</a:t>
                      </a:r>
                    </a:p>
                  </a:txBody>
                  <a:tcPr anchor="ctr" marL="54864" marR="54864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—</a:t>
                      </a:r>
                    </a:p>
                  </a:txBody>
                  <a:tcPr anchor="ctr" marL="54864" marR="54864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James</a:t>
                      </a:r>
                    </a:p>
                  </a:txBody>
                  <a:tcPr anchor="ctr" marL="54864" marR="54864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Schüffner</a:t>
                      </a:r>
                    </a:p>
                  </a:txBody>
                  <a:tcPr anchor="ctr" marL="54864" marR="54864" marT="36576" marB="36576"/>
                </a:tc>
              </a:tr>
              <a:tr h="830580"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Schizonte</a:t>
                      </a:r>
                    </a:p>
                  </a:txBody>
                  <a:tcPr anchor="ctr" marL="54864" marR="54864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8–32, généralement absent du sang périphérique</a:t>
                      </a:r>
                    </a:p>
                  </a:txBody>
                  <a:tcPr anchor="ctr" marL="54864" marR="54864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8–12, rosette</a:t>
                      </a:r>
                    </a:p>
                  </a:txBody>
                  <a:tcPr anchor="ctr" marL="54864" marR="54864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4–12, disposition irrégulière</a:t>
                      </a:r>
                    </a:p>
                  </a:txBody>
                  <a:tcPr anchor="ctr" marL="54864" marR="54864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12–18</a:t>
                      </a:r>
                    </a:p>
                  </a:txBody>
                  <a:tcPr anchor="ctr" marL="54864" marR="54864" marT="36576" marB="36576"/>
                </a:tc>
              </a:tr>
              <a:tr h="830580"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Gametocyte</a:t>
                      </a:r>
                    </a:p>
                  </a:txBody>
                  <a:tcPr anchor="ctr" marL="54864" marR="54864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Banane / croissant</a:t>
                      </a:r>
                    </a:p>
                  </a:txBody>
                  <a:tcPr anchor="ctr" marL="54864" marR="54864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Arrondi</a:t>
                      </a:r>
                    </a:p>
                  </a:txBody>
                  <a:tcPr anchor="ctr" marL="54864" marR="54864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Arrondi</a:t>
                      </a:r>
                    </a:p>
                  </a:txBody>
                  <a:tcPr anchor="ctr" marL="54864" marR="54864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Arrondi</a:t>
                      </a:r>
                    </a:p>
                  </a:txBody>
                  <a:tcPr anchor="ctr" marL="54864" marR="54864" marT="36576" marB="36576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14476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→ L’identification repose sur l’ensemble des critères morphologiques observés au frottis.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