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18"/>
  </p:notesMasterIdLst>
  <p:sldIdLst>
    <p:sldId id="256" r:id="rId2"/>
    <p:sldId id="257" r:id="rId3"/>
    <p:sldId id="258" r:id="rId4"/>
    <p:sldId id="271" r:id="rId5"/>
    <p:sldId id="272" r:id="rId6"/>
    <p:sldId id="259" r:id="rId7"/>
    <p:sldId id="260" r:id="rId8"/>
    <p:sldId id="266" r:id="rId9"/>
    <p:sldId id="267" r:id="rId10"/>
    <p:sldId id="264" r:id="rId11"/>
    <p:sldId id="265" r:id="rId12"/>
    <p:sldId id="262" r:id="rId13"/>
    <p:sldId id="263" r:id="rId14"/>
    <p:sldId id="268" r:id="rId15"/>
    <p:sldId id="269" r:id="rId16"/>
    <p:sldId id="270"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153"/>
    <p:restoredTop sz="72545"/>
  </p:normalViewPr>
  <p:slideViewPr>
    <p:cSldViewPr snapToGrid="0">
      <p:cViewPr varScale="1">
        <p:scale>
          <a:sx n="46" d="100"/>
          <a:sy n="46" d="100"/>
        </p:scale>
        <p:origin x="1156"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J"/>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4426E1-8399-0747-B6CE-6362257DE835}" type="datetimeFigureOut">
              <a:rPr lang="fr-BJ" smtClean="0"/>
              <a:t>10/05/2026</a:t>
            </a:fld>
            <a:endParaRPr lang="fr-BJ"/>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BJ"/>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J"/>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BJ"/>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74D4BD-A461-9A4C-B760-1D192F0E9B1A}" type="slidenum">
              <a:rPr lang="fr-BJ" smtClean="0"/>
              <a:t>‹N°›</a:t>
            </a:fld>
            <a:endParaRPr lang="fr-BJ"/>
          </a:p>
        </p:txBody>
      </p:sp>
    </p:spTree>
    <p:extLst>
      <p:ext uri="{BB962C8B-B14F-4D97-AF65-F5344CB8AC3E}">
        <p14:creationId xmlns:p14="http://schemas.microsoft.com/office/powerpoint/2010/main" val="3486074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0074D4BD-A461-9A4C-B760-1D192F0E9B1A}" type="slidenum">
              <a:rPr lang="fr-BJ" smtClean="0"/>
              <a:t>2</a:t>
            </a:fld>
            <a:endParaRPr lang="fr-BJ"/>
          </a:p>
        </p:txBody>
      </p:sp>
    </p:spTree>
    <p:extLst>
      <p:ext uri="{BB962C8B-B14F-4D97-AF65-F5344CB8AC3E}">
        <p14:creationId xmlns:p14="http://schemas.microsoft.com/office/powerpoint/2010/main" val="26889902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fr-FR"/>
          </a:p>
        </p:txBody>
      </p:sp>
      <p:sp>
        <p:nvSpPr>
          <p:cNvPr id="3" name="Notes Placeholder 2"/>
          <p:cNvSpPr>
            <a:spLocks noGrp="1"/>
          </p:cNvSpPr>
          <p:nvPr>
            <p:ph type="body" sz="quarter" idx="3"/>
          </p:nvPr>
        </p:nvSpPr>
        <p:spPr/>
        <p:txBody>
          <a:bodyPr/>
          <a:lstStyle/>
          <a:p>
            <a:r>
              <a:t>L'aspect du parasite varie avec l'espèce et avec son stade d'évolution (son âge). Le frottis mince met en évidence tous les détails morphologiques ; la goutte épaisse enrichit en parasites mais la lecture est plus difficile.</a:t>
            </a:r>
          </a:p>
        </p:txBody>
      </p:sp>
      <p:sp>
        <p:nvSpPr>
          <p:cNvPr id="4" name="Slide Number Placeholder 3"/>
          <p:cNvSpPr>
            <a:spLocks noGrp="1"/>
          </p:cNvSpPr>
          <p:nvPr>
            <p:ph type="sldNum" sz="quarter" idx="5"/>
          </p:nvPr>
        </p:nvSpPr>
        <p:spPr/>
        <p:txBody>
          <a:bodyPr/>
          <a:lstStyle/>
          <a:p>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0074D4BD-A461-9A4C-B760-1D192F0E9B1A}" type="slidenum">
              <a:rPr lang="fr-BJ" smtClean="0"/>
              <a:t>4</a:t>
            </a:fld>
            <a:endParaRPr lang="fr-BJ"/>
          </a:p>
        </p:txBody>
      </p:sp>
    </p:spTree>
    <p:extLst>
      <p:ext uri="{BB962C8B-B14F-4D97-AF65-F5344CB8AC3E}">
        <p14:creationId xmlns:p14="http://schemas.microsoft.com/office/powerpoint/2010/main" val="36601512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228600" lvl="0" indent="-228600">
              <a:buFont typeface="Arial" panose="020B0604020202020204" pitchFamily="34" charset="0"/>
              <a:buChar char="•"/>
            </a:pPr>
            <a:r>
              <a:rPr lang="fr-FR" sz="1200" noProof="0" dirty="0"/>
              <a:t>Le frottis sanguin complète la goutte épaisse et permet l’étude morphologique.</a:t>
            </a:r>
          </a:p>
          <a:p>
            <a:pPr marL="228600" lvl="0" indent="-228600">
              <a:buFont typeface="Arial" panose="020B0604020202020204" pitchFamily="34" charset="0"/>
              <a:buChar char="•"/>
            </a:pPr>
            <a:endParaRPr lang="fr-FR" sz="1200" noProof="0" dirty="0"/>
          </a:p>
          <a:p>
            <a:pPr marL="228600" lvl="0" indent="-228600">
              <a:buFont typeface="Arial" panose="020B0604020202020204" pitchFamily="34" charset="0"/>
              <a:buChar char="•"/>
            </a:pPr>
            <a:r>
              <a:rPr lang="fr-FR" sz="1200" noProof="0" dirty="0"/>
              <a:t>On examine simultanément :</a:t>
            </a:r>
          </a:p>
          <a:p>
            <a:pPr marL="228600" lvl="0" indent="-228600">
              <a:buFont typeface="Arial" panose="020B0604020202020204" pitchFamily="34" charset="0"/>
              <a:buChar char="•"/>
            </a:pPr>
            <a:r>
              <a:rPr lang="fr-FR" sz="1200" noProof="0" dirty="0"/>
              <a:t>• l’hématie parasitée et l’hématie non parasitée, notamment leur taille et leur forme ;</a:t>
            </a:r>
          </a:p>
          <a:p>
            <a:pPr marL="228600" lvl="0" indent="-228600">
              <a:buFont typeface="Arial" panose="020B0604020202020204" pitchFamily="34" charset="0"/>
              <a:buChar char="•"/>
            </a:pPr>
            <a:r>
              <a:rPr lang="fr-FR" sz="1200" noProof="0" dirty="0"/>
              <a:t>• le stade du parasite et ses caractères morphologiques ;</a:t>
            </a:r>
          </a:p>
          <a:p>
            <a:pPr marL="228600" lvl="0" indent="-228600">
              <a:buFont typeface="Arial" panose="020B0604020202020204" pitchFamily="34" charset="0"/>
              <a:buChar char="•"/>
            </a:pPr>
            <a:r>
              <a:rPr lang="fr-FR" sz="1200" noProof="0" dirty="0"/>
              <a:t>• le pigment et les granulations ;</a:t>
            </a:r>
          </a:p>
          <a:p>
            <a:pPr marL="228600" lvl="0" indent="-228600">
              <a:buFont typeface="Arial" panose="020B0604020202020204" pitchFamily="34" charset="0"/>
              <a:buChar char="•"/>
            </a:pPr>
            <a:r>
              <a:rPr lang="fr-FR" sz="1200" noProof="0" dirty="0"/>
              <a:t>• le nombre et la disposition des mérozoïtes ;</a:t>
            </a:r>
          </a:p>
          <a:p>
            <a:pPr marL="228600" lvl="0" indent="-228600">
              <a:buFont typeface="Arial" panose="020B0604020202020204" pitchFamily="34" charset="0"/>
              <a:buChar char="•"/>
            </a:pPr>
            <a:r>
              <a:rPr lang="fr-FR" sz="1200" noProof="0" dirty="0"/>
              <a:t>• l’aspect général du frottis.</a:t>
            </a:r>
          </a:p>
          <a:p>
            <a:pPr marL="228600" lvl="0" indent="-228600">
              <a:buFont typeface="Arial" panose="020B0604020202020204" pitchFamily="34" charset="0"/>
              <a:buChar char="•"/>
            </a:pPr>
            <a:endParaRPr lang="fr-FR" sz="1200" noProof="0" dirty="0"/>
          </a:p>
          <a:p>
            <a:pPr marL="228600" lvl="0" indent="-228600">
              <a:buFont typeface="Arial" panose="020B0604020202020204" pitchFamily="34" charset="0"/>
              <a:buChar char="•"/>
            </a:pPr>
            <a:r>
              <a:rPr lang="fr-FR" sz="1200" noProof="0" dirty="0"/>
              <a:t>Ces éléments permettent d’orienter l’identification de l’espèce de Plasmodium.</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dirty="0">
                <a:latin typeface="Times New Roman" panose="02020603050405020304" pitchFamily="18" charset="0"/>
                <a:cs typeface="Times New Roman" panose="02020603050405020304" pitchFamily="18" charset="0"/>
              </a:rPr>
              <a:t>→ La goutte épaisse met en évidence le parasite ; le frottis permet de l’identifier.</a:t>
            </a:r>
            <a:endParaRPr lang="fr-FR" noProof="0" dirty="0">
              <a:latin typeface="Times New Roman" panose="02020603050405020304" pitchFamily="18" charset="0"/>
              <a:cs typeface="Times New Roman" panose="02020603050405020304" pitchFamily="18" charset="0"/>
            </a:endParaRPr>
          </a:p>
          <a:p>
            <a:pPr marL="228600" lvl="0" indent="-228600">
              <a:buFont typeface="Arial" panose="020B0604020202020204" pitchFamily="34" charset="0"/>
              <a:buChar char="•"/>
            </a:pPr>
            <a:endParaRPr lang="fr-FR" sz="1200" noProof="0" dirty="0"/>
          </a:p>
          <a:p>
            <a:endParaRPr lang="fr-FR" dirty="0"/>
          </a:p>
        </p:txBody>
      </p:sp>
      <p:sp>
        <p:nvSpPr>
          <p:cNvPr id="4" name="Espace réservé du numéro de diapositive 3"/>
          <p:cNvSpPr>
            <a:spLocks noGrp="1"/>
          </p:cNvSpPr>
          <p:nvPr>
            <p:ph type="sldNum" sz="quarter" idx="5"/>
          </p:nvPr>
        </p:nvSpPr>
        <p:spPr/>
        <p:txBody>
          <a:bodyPr/>
          <a:lstStyle/>
          <a:p>
            <a:fld id="{0074D4BD-A461-9A4C-B760-1D192F0E9B1A}" type="slidenum">
              <a:rPr lang="fr-BJ" smtClean="0"/>
              <a:t>5</a:t>
            </a:fld>
            <a:endParaRPr lang="fr-BJ"/>
          </a:p>
        </p:txBody>
      </p:sp>
    </p:spTree>
    <p:extLst>
      <p:ext uri="{BB962C8B-B14F-4D97-AF65-F5344CB8AC3E}">
        <p14:creationId xmlns:p14="http://schemas.microsoft.com/office/powerpoint/2010/main" val="31224249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fr-FR"/>
          </a:p>
        </p:txBody>
      </p:sp>
      <p:sp>
        <p:nvSpPr>
          <p:cNvPr id="3" name="Notes Placeholder 2"/>
          <p:cNvSpPr>
            <a:spLocks noGrp="1"/>
          </p:cNvSpPr>
          <p:nvPr>
            <p:ph type="body" sz="quarter" idx="3"/>
          </p:nvPr>
        </p:nvSpPr>
        <p:spPr/>
        <p:txBody>
          <a:bodyPr/>
          <a:lstStyle/>
          <a:p>
            <a:r>
              <a:t>Dans le sang périphérique, on ne trouve habituellement que des trophozoïtes annulaires et des gamétocytes : le développement se poursuit dans les capillaires profonds. Toutes les hématies, quel que soit leur âge, peuvent être parasitées.</a:t>
            </a:r>
          </a:p>
        </p:txBody>
      </p:sp>
      <p:sp>
        <p:nvSpPr>
          <p:cNvPr id="4" name="Slide Number Placeholder 3"/>
          <p:cNvSpPr>
            <a:spLocks noGrp="1"/>
          </p:cNvSpPr>
          <p:nvPr>
            <p:ph type="sldNum" sz="quarter" idx="5"/>
          </p:nvPr>
        </p:nvSpPr>
        <p:spPr/>
        <p:txBody>
          <a:bodyPr/>
          <a:lstStyle/>
          <a:p>
            <a:endParaRPr lang="fr-F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fr-FR"/>
          </a:p>
        </p:txBody>
      </p:sp>
      <p:sp>
        <p:nvSpPr>
          <p:cNvPr id="3" name="Notes Placeholder 2"/>
          <p:cNvSpPr>
            <a:spLocks noGrp="1"/>
          </p:cNvSpPr>
          <p:nvPr>
            <p:ph type="body" sz="quarter" idx="3"/>
          </p:nvPr>
        </p:nvSpPr>
        <p:spPr/>
        <p:txBody>
          <a:bodyPr/>
          <a:lstStyle/>
          <a:p>
            <a:r>
              <a:rPr lang="fr-FR" dirty="0"/>
              <a:t>Le </a:t>
            </a:r>
            <a:r>
              <a:rPr lang="fr-FR" dirty="0" err="1"/>
              <a:t>schizonte</a:t>
            </a:r>
            <a:r>
              <a:rPr lang="fr-FR" dirty="0"/>
              <a:t> est un stade évolué. Chez P. falciparum, il est normalement séquestré dans les tissus et rarement observé dans le sang périphérique. Sa présence dans le sang périphérique est donc un signe de gravité.</a:t>
            </a:r>
          </a:p>
          <a:p>
            <a:endParaRPr lang="fr-FR" dirty="0"/>
          </a:p>
          <a:p>
            <a:r>
              <a:rPr dirty="0" err="1"/>
              <a:t>en</a:t>
            </a:r>
            <a:r>
              <a:rPr dirty="0"/>
              <a:t> </a:t>
            </a:r>
            <a:r>
              <a:rPr dirty="0" err="1"/>
              <a:t>général</a:t>
            </a:r>
            <a:r>
              <a:rPr dirty="0"/>
              <a:t> 16 à 24 </a:t>
            </a:r>
            <a:r>
              <a:rPr dirty="0" err="1"/>
              <a:t>mérozoïtes</a:t>
            </a:r>
            <a:r>
              <a:rPr dirty="0"/>
              <a:t> ; </a:t>
            </a:r>
            <a:r>
              <a:rPr dirty="0" err="1"/>
              <a:t>l'hématie</a:t>
            </a:r>
            <a:r>
              <a:rPr dirty="0"/>
              <a:t> garde </a:t>
            </a:r>
            <a:r>
              <a:rPr dirty="0" err="1"/>
              <a:t>une</a:t>
            </a:r>
            <a:r>
              <a:rPr dirty="0"/>
              <a:t> taille </a:t>
            </a:r>
            <a:r>
              <a:rPr dirty="0" err="1"/>
              <a:t>normale</a:t>
            </a:r>
            <a:r>
              <a:rPr dirty="0"/>
              <a:t>. Les </a:t>
            </a:r>
            <a:r>
              <a:rPr dirty="0" err="1"/>
              <a:t>gamétocytes</a:t>
            </a:r>
            <a:r>
              <a:rPr dirty="0"/>
              <a:t> </a:t>
            </a:r>
            <a:r>
              <a:rPr dirty="0" err="1"/>
              <a:t>apparaissent</a:t>
            </a:r>
            <a:r>
              <a:rPr dirty="0"/>
              <a:t> </a:t>
            </a:r>
            <a:r>
              <a:rPr dirty="0" err="1"/>
              <a:t>tardivement</a:t>
            </a:r>
            <a:r>
              <a:rPr dirty="0"/>
              <a:t> </a:t>
            </a:r>
            <a:r>
              <a:rPr dirty="0" err="1"/>
              <a:t>ou</a:t>
            </a:r>
            <a:r>
              <a:rPr dirty="0"/>
              <a:t> après </a:t>
            </a:r>
            <a:r>
              <a:rPr dirty="0" err="1"/>
              <a:t>traitement</a:t>
            </a:r>
            <a:r>
              <a:rPr dirty="0"/>
              <a:t>.</a:t>
            </a:r>
            <a:endParaRPr lang="fr-FR" dirty="0"/>
          </a:p>
          <a:p>
            <a:endParaRPr lang="fr-FR" dirty="0"/>
          </a:p>
          <a:p>
            <a:pPr marL="228600" lvl="0" indent="-228600">
              <a:buFont typeface="Arial" panose="020B0604020202020204" pitchFamily="34" charset="0"/>
              <a:buChar char="•"/>
            </a:pPr>
            <a:r>
              <a:rPr lang="fr-FR" sz="1200" noProof="0" dirty="0"/>
              <a:t>L’aspect général du frottis peut être monotone, avec prédominance des trophozoïtes annulaires.</a:t>
            </a:r>
          </a:p>
          <a:p>
            <a:pPr marL="228600" lvl="0" indent="-228600">
              <a:buFont typeface="Arial" panose="020B0604020202020204" pitchFamily="34" charset="0"/>
              <a:buChar char="•"/>
            </a:pPr>
            <a:endParaRPr lang="fr-FR" sz="1200" noProof="0" dirty="0"/>
          </a:p>
          <a:p>
            <a:pPr marL="228600" lvl="0" indent="-228600">
              <a:buFont typeface="Arial" panose="020B0604020202020204" pitchFamily="34" charset="0"/>
              <a:buChar char="•"/>
            </a:pPr>
            <a:r>
              <a:rPr lang="fr-FR" sz="1200" noProof="0" dirty="0"/>
              <a:t>Les caractères importants à retenir sont :</a:t>
            </a:r>
          </a:p>
          <a:p>
            <a:pPr marL="228600" lvl="0" indent="-228600">
              <a:buFont typeface="Arial" panose="020B0604020202020204" pitchFamily="34" charset="0"/>
              <a:buChar char="•"/>
            </a:pPr>
            <a:r>
              <a:rPr lang="fr-FR" sz="1200" noProof="0" dirty="0"/>
              <a:t>• hématie de taille généralement normale ;</a:t>
            </a:r>
          </a:p>
          <a:p>
            <a:pPr marL="228600" lvl="0" indent="-228600">
              <a:buFont typeface="Arial" panose="020B0604020202020204" pitchFamily="34" charset="0"/>
              <a:buChar char="•"/>
            </a:pPr>
            <a:r>
              <a:rPr lang="fr-FR" sz="1200" noProof="0" dirty="0"/>
              <a:t>• bagues fines ;</a:t>
            </a:r>
          </a:p>
          <a:p>
            <a:pPr marL="228600" lvl="0" indent="-228600">
              <a:buFont typeface="Arial" panose="020B0604020202020204" pitchFamily="34" charset="0"/>
              <a:buChar char="•"/>
            </a:pPr>
            <a:r>
              <a:rPr lang="fr-FR" sz="1200" noProof="0" dirty="0"/>
              <a:t>• </a:t>
            </a:r>
            <a:r>
              <a:rPr lang="fr-FR" sz="1200" noProof="0" dirty="0" err="1"/>
              <a:t>polyparasitisme</a:t>
            </a:r>
            <a:r>
              <a:rPr lang="fr-FR" sz="1200" noProof="0" dirty="0"/>
              <a:t> possible ;</a:t>
            </a:r>
          </a:p>
          <a:p>
            <a:pPr marL="228600" lvl="0" indent="-228600">
              <a:buFont typeface="Arial" panose="020B0604020202020204" pitchFamily="34" charset="0"/>
              <a:buChar char="•"/>
            </a:pPr>
            <a:r>
              <a:rPr lang="fr-FR" sz="1200" noProof="0" dirty="0"/>
              <a:t>• taches de Maurer ;</a:t>
            </a:r>
          </a:p>
          <a:p>
            <a:pPr marL="228600" lvl="0" indent="-228600">
              <a:buFont typeface="Arial" panose="020B0604020202020204" pitchFamily="34" charset="0"/>
              <a:buChar char="•"/>
            </a:pPr>
            <a:r>
              <a:rPr lang="fr-FR" sz="1200" noProof="0" dirty="0"/>
              <a:t>• gamétocytes en banane ou en croissant.</a:t>
            </a:r>
          </a:p>
          <a:p>
            <a:pPr marL="228600" lvl="0" indent="-228600">
              <a:buFont typeface="Arial" panose="020B0604020202020204" pitchFamily="34" charset="0"/>
              <a:buChar char="•"/>
            </a:pPr>
            <a:endParaRPr lang="fr-FR" sz="1200" noProof="0" dirty="0"/>
          </a:p>
          <a:p>
            <a:pPr marL="228600" lvl="0" indent="-228600">
              <a:buFont typeface="Arial" panose="020B0604020202020204" pitchFamily="34" charset="0"/>
              <a:buChar char="•"/>
            </a:pPr>
            <a:r>
              <a:rPr lang="fr-FR" sz="1200" noProof="0" dirty="0"/>
              <a:t>L’ensemble de ces caractères oriente vers P. falciparum.</a:t>
            </a:r>
          </a:p>
          <a:p>
            <a:endParaRPr dirty="0"/>
          </a:p>
        </p:txBody>
      </p:sp>
      <p:sp>
        <p:nvSpPr>
          <p:cNvPr id="4" name="Slide Number Placeholder 3"/>
          <p:cNvSpPr>
            <a:spLocks noGrp="1"/>
          </p:cNvSpPr>
          <p:nvPr>
            <p:ph type="sldNum" sz="quarter" idx="5"/>
          </p:nvPr>
        </p:nvSpPr>
        <p:spPr/>
        <p:txBody>
          <a:bodyPr/>
          <a:lstStyle/>
          <a:p>
            <a:endParaRPr lang="fr-F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fr-FR"/>
          </a:p>
        </p:txBody>
      </p:sp>
      <p:sp>
        <p:nvSpPr>
          <p:cNvPr id="3" name="Notes Placeholder 2"/>
          <p:cNvSpPr>
            <a:spLocks noGrp="1"/>
          </p:cNvSpPr>
          <p:nvPr>
            <p:ph type="body" sz="quarter" idx="3"/>
          </p:nvPr>
        </p:nvSpPr>
        <p:spPr/>
        <p:txBody>
          <a:bodyPr/>
          <a:lstStyle/>
          <a:p>
            <a:pPr marL="228600" lvl="0" indent="-228600">
              <a:buFont typeface="Arial" panose="020B0604020202020204" pitchFamily="34" charset="0"/>
              <a:buChar char="•"/>
            </a:pPr>
            <a:r>
              <a:rPr dirty="0"/>
              <a:t>Le </a:t>
            </a:r>
            <a:r>
              <a:rPr dirty="0" err="1"/>
              <a:t>trophozoïte</a:t>
            </a:r>
            <a:r>
              <a:rPr dirty="0"/>
              <a:t> est </a:t>
            </a:r>
            <a:r>
              <a:rPr dirty="0" err="1"/>
              <a:t>allongé</a:t>
            </a:r>
            <a:r>
              <a:rPr dirty="0"/>
              <a:t> d'un bout à </a:t>
            </a:r>
            <a:r>
              <a:rPr dirty="0" err="1"/>
              <a:t>l'autre</a:t>
            </a:r>
            <a:r>
              <a:rPr dirty="0"/>
              <a:t> de </a:t>
            </a:r>
            <a:r>
              <a:rPr dirty="0" err="1"/>
              <a:t>l'hématie</a:t>
            </a:r>
            <a:r>
              <a:rPr dirty="0"/>
              <a:t>, </a:t>
            </a:r>
            <a:r>
              <a:rPr dirty="0" err="1"/>
              <a:t>en</a:t>
            </a:r>
            <a:r>
              <a:rPr dirty="0"/>
              <a:t> position </a:t>
            </a:r>
            <a:r>
              <a:rPr dirty="0" err="1"/>
              <a:t>équatoriale</a:t>
            </a:r>
            <a:r>
              <a:rPr dirty="0"/>
              <a:t>. </a:t>
            </a:r>
            <a:r>
              <a:rPr dirty="0" err="1"/>
              <a:t>Seules</a:t>
            </a:r>
            <a:r>
              <a:rPr dirty="0"/>
              <a:t> les </a:t>
            </a:r>
            <a:r>
              <a:rPr dirty="0" err="1"/>
              <a:t>hématies</a:t>
            </a:r>
            <a:r>
              <a:rPr dirty="0"/>
              <a:t> </a:t>
            </a:r>
            <a:r>
              <a:rPr dirty="0" err="1"/>
              <a:t>âgées</a:t>
            </a:r>
            <a:r>
              <a:rPr dirty="0"/>
              <a:t> </a:t>
            </a:r>
            <a:r>
              <a:rPr dirty="0" err="1"/>
              <a:t>sont</a:t>
            </a:r>
            <a:r>
              <a:rPr dirty="0"/>
              <a:t> </a:t>
            </a:r>
            <a:r>
              <a:rPr dirty="0" err="1"/>
              <a:t>parasitées</a:t>
            </a:r>
            <a:r>
              <a:rPr dirty="0"/>
              <a:t> : les parasites </a:t>
            </a:r>
            <a:r>
              <a:rPr dirty="0" err="1"/>
              <a:t>sont</a:t>
            </a:r>
            <a:r>
              <a:rPr dirty="0"/>
              <a:t> plus </a:t>
            </a:r>
            <a:r>
              <a:rPr dirty="0" err="1"/>
              <a:t>rares</a:t>
            </a:r>
            <a:r>
              <a:rPr dirty="0"/>
              <a:t>.</a:t>
            </a:r>
            <a:r>
              <a:rPr lang="fr-FR" dirty="0"/>
              <a:t> </a:t>
            </a:r>
            <a:r>
              <a:rPr lang="fr-FR" sz="1200" noProof="0" dirty="0"/>
              <a:t>Avant tout : comparer l’hématie parasitée à l’hématie non parasitée.</a:t>
            </a:r>
          </a:p>
          <a:p>
            <a:pPr marL="228600" lvl="0" indent="-228600">
              <a:buFont typeface="Arial" panose="020B0604020202020204" pitchFamily="34" charset="0"/>
              <a:buChar char="•"/>
            </a:pPr>
            <a:r>
              <a:rPr lang="fr-FR" sz="1200" noProof="0" dirty="0"/>
              <a:t>Hématie parasitée : plus petite / réduite par rapport à l’hématie non parasitée.</a:t>
            </a:r>
          </a:p>
          <a:p>
            <a:pPr marL="228600" lvl="0" indent="-228600">
              <a:buFont typeface="Arial" panose="020B0604020202020204" pitchFamily="34" charset="0"/>
              <a:buChar char="•"/>
            </a:pPr>
            <a:endParaRPr lang="fr-FR" sz="1200" noProof="0" dirty="0"/>
          </a:p>
          <a:p>
            <a:pPr marL="228600" lvl="0" indent="-228600">
              <a:buFont typeface="Arial" panose="020B0604020202020204" pitchFamily="34" charset="0"/>
              <a:buChar char="•"/>
            </a:pPr>
            <a:r>
              <a:rPr lang="fr-FR" sz="1200" noProof="0" dirty="0"/>
              <a:t>Trophozoïtes :</a:t>
            </a:r>
          </a:p>
          <a:p>
            <a:pPr marL="228600" lvl="0" indent="-228600">
              <a:buFont typeface="Arial" panose="020B0604020202020204" pitchFamily="34" charset="0"/>
              <a:buChar char="•"/>
            </a:pPr>
            <a:r>
              <a:rPr lang="fr-FR" sz="1200" noProof="0" dirty="0"/>
              <a:t>• chromatine compacte ;</a:t>
            </a:r>
          </a:p>
          <a:p>
            <a:pPr marL="228600" lvl="0" indent="-228600">
              <a:buFont typeface="Arial" panose="020B0604020202020204" pitchFamily="34" charset="0"/>
              <a:buChar char="•"/>
            </a:pPr>
            <a:r>
              <a:rPr lang="fr-FR" sz="1200" noProof="0" dirty="0"/>
              <a:t>• cytoplasme relativement régulier ;</a:t>
            </a:r>
          </a:p>
          <a:p>
            <a:pPr marL="228600" lvl="0" indent="-228600">
              <a:buFont typeface="Arial" panose="020B0604020202020204" pitchFamily="34" charset="0"/>
              <a:buChar char="•"/>
            </a:pPr>
            <a:r>
              <a:rPr lang="fr-FR" sz="1200" noProof="0" dirty="0"/>
              <a:t>• bande équatoriale possible ;</a:t>
            </a:r>
          </a:p>
          <a:p>
            <a:pPr marL="228600" lvl="0" indent="-228600">
              <a:buFont typeface="Arial" panose="020B0604020202020204" pitchFamily="34" charset="0"/>
              <a:buChar char="•"/>
            </a:pPr>
            <a:r>
              <a:rPr lang="fr-FR" sz="1200" noProof="0" dirty="0"/>
              <a:t>• pigment malarique.</a:t>
            </a:r>
          </a:p>
          <a:p>
            <a:pPr marL="228600" lvl="0" indent="-228600">
              <a:buFont typeface="Arial" panose="020B0604020202020204" pitchFamily="34" charset="0"/>
              <a:buChar char="•"/>
            </a:pPr>
            <a:endParaRPr lang="fr-FR" sz="1200" noProof="0" dirty="0"/>
          </a:p>
          <a:p>
            <a:pPr marL="228600" lvl="0" indent="-228600">
              <a:buFont typeface="Arial" panose="020B0604020202020204" pitchFamily="34" charset="0"/>
              <a:buChar char="•"/>
            </a:pPr>
            <a:r>
              <a:rPr lang="fr-FR" sz="1200" noProof="0" dirty="0"/>
              <a:t>Le trophozoïte peut s’étendre d’un bord à l’autre de l’hématie, donnant l’aspect en bandelette</a:t>
            </a:r>
            <a:endParaRPr dirty="0"/>
          </a:p>
        </p:txBody>
      </p:sp>
      <p:sp>
        <p:nvSpPr>
          <p:cNvPr id="4" name="Slide Number Placeholder 3"/>
          <p:cNvSpPr>
            <a:spLocks noGrp="1"/>
          </p:cNvSpPr>
          <p:nvPr>
            <p:ph type="sldNum" sz="quarter" idx="5"/>
          </p:nvPr>
        </p:nvSpPr>
        <p:spPr/>
        <p:txBody>
          <a:bodyPr/>
          <a:lstStyle/>
          <a:p>
            <a:endParaRPr lang="fr-F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fr-FR"/>
          </a:p>
        </p:txBody>
      </p:sp>
      <p:sp>
        <p:nvSpPr>
          <p:cNvPr id="3" name="Notes Placeholder 2"/>
          <p:cNvSpPr>
            <a:spLocks noGrp="1"/>
          </p:cNvSpPr>
          <p:nvPr>
            <p:ph type="body" sz="quarter" idx="3"/>
          </p:nvPr>
        </p:nvSpPr>
        <p:spPr/>
        <p:txBody>
          <a:bodyPr/>
          <a:lstStyle/>
          <a:p>
            <a:r>
              <a:rPr lang="fr-FR" dirty="0">
                <a:latin typeface="Times New Roman" panose="02020603050405020304" pitchFamily="18" charset="0"/>
                <a:cs typeface="Times New Roman" panose="02020603050405020304" pitchFamily="18" charset="0"/>
              </a:rPr>
              <a:t>➡️ Critère particulièrement évocateur : </a:t>
            </a:r>
            <a:r>
              <a:rPr lang="fr-FR" dirty="0" err="1">
                <a:latin typeface="Times New Roman" panose="02020603050405020304" pitchFamily="18" charset="0"/>
                <a:cs typeface="Times New Roman" panose="02020603050405020304" pitchFamily="18" charset="0"/>
              </a:rPr>
              <a:t>schizonte</a:t>
            </a:r>
            <a:r>
              <a:rPr lang="fr-FR" dirty="0">
                <a:latin typeface="Times New Roman" panose="02020603050405020304" pitchFamily="18" charset="0"/>
                <a:cs typeface="Times New Roman" panose="02020603050405020304" pitchFamily="18" charset="0"/>
              </a:rPr>
              <a:t> en rosette avec disposition régulière des mérozoïtes</a:t>
            </a:r>
            <a:endParaRPr dirty="0"/>
          </a:p>
        </p:txBody>
      </p:sp>
      <p:sp>
        <p:nvSpPr>
          <p:cNvPr id="4" name="Slide Number Placeholder 3"/>
          <p:cNvSpPr>
            <a:spLocks noGrp="1"/>
          </p:cNvSpPr>
          <p:nvPr>
            <p:ph type="sldNum" sz="quarter" idx="5"/>
          </p:nvPr>
        </p:nvSpPr>
        <p:spPr/>
        <p:txBody>
          <a:bodyPr/>
          <a:lstStyle/>
          <a:p>
            <a:endParaRPr lang="fr-F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fr-FR"/>
          </a:p>
        </p:txBody>
      </p:sp>
      <p:sp>
        <p:nvSpPr>
          <p:cNvPr id="3" name="Notes Placeholder 2"/>
          <p:cNvSpPr>
            <a:spLocks noGrp="1"/>
          </p:cNvSpPr>
          <p:nvPr>
            <p:ph type="body" sz="quarter" idx="3"/>
          </p:nvPr>
        </p:nvSpPr>
        <p:spPr/>
        <p:txBody>
          <a:bodyPr/>
          <a:lstStyle/>
          <a:p>
            <a:pPr marL="228600" lvl="0" indent="-228600">
              <a:buFont typeface="Arial" panose="020B0604020202020204" pitchFamily="34" charset="0"/>
              <a:buChar char="•"/>
            </a:pPr>
            <a:r>
              <a:rPr dirty="0"/>
              <a:t>Les granulations de </a:t>
            </a:r>
            <a:r>
              <a:rPr lang="fr-FR" dirty="0"/>
              <a:t>James</a:t>
            </a:r>
            <a:r>
              <a:rPr dirty="0"/>
              <a:t> </a:t>
            </a:r>
            <a:r>
              <a:rPr dirty="0" err="1"/>
              <a:t>apparaissent</a:t>
            </a:r>
            <a:r>
              <a:rPr dirty="0"/>
              <a:t> plus </a:t>
            </a:r>
            <a:r>
              <a:rPr dirty="0" err="1"/>
              <a:t>tôt</a:t>
            </a:r>
            <a:r>
              <a:rPr dirty="0"/>
              <a:t> </a:t>
            </a:r>
            <a:r>
              <a:rPr dirty="0" err="1"/>
              <a:t>que</a:t>
            </a:r>
            <a:r>
              <a:rPr dirty="0"/>
              <a:t> chez P. vivax. La pression </a:t>
            </a:r>
            <a:r>
              <a:rPr dirty="0" err="1"/>
              <a:t>lors</a:t>
            </a:r>
            <a:r>
              <a:rPr dirty="0"/>
              <a:t> de </a:t>
            </a:r>
            <a:r>
              <a:rPr dirty="0" err="1"/>
              <a:t>l'étalement</a:t>
            </a:r>
            <a:r>
              <a:rPr dirty="0"/>
              <a:t> </a:t>
            </a:r>
            <a:r>
              <a:rPr dirty="0" err="1"/>
              <a:t>ovalise</a:t>
            </a:r>
            <a:r>
              <a:rPr dirty="0"/>
              <a:t> </a:t>
            </a:r>
            <a:r>
              <a:rPr dirty="0" err="1"/>
              <a:t>souvent</a:t>
            </a:r>
            <a:r>
              <a:rPr dirty="0"/>
              <a:t> les </a:t>
            </a:r>
            <a:r>
              <a:rPr dirty="0" err="1"/>
              <a:t>hématies</a:t>
            </a:r>
            <a:r>
              <a:rPr dirty="0"/>
              <a:t> </a:t>
            </a:r>
            <a:r>
              <a:rPr dirty="0" err="1"/>
              <a:t>parasitées</a:t>
            </a:r>
            <a:r>
              <a:rPr dirty="0"/>
              <a:t>.</a:t>
            </a:r>
            <a:r>
              <a:rPr lang="fr-FR" dirty="0"/>
              <a:t> </a:t>
            </a:r>
            <a:r>
              <a:rPr lang="fr-FR" sz="1200" noProof="0" dirty="0"/>
              <a:t>Avant tout : comparer l’hématie parasitée à l’hématie non parasitée.</a:t>
            </a:r>
          </a:p>
          <a:p>
            <a:pPr marL="228600" lvl="0" indent="-228600">
              <a:buFont typeface="Arial" panose="020B0604020202020204" pitchFamily="34" charset="0"/>
              <a:buChar char="•"/>
            </a:pPr>
            <a:r>
              <a:rPr lang="fr-FR" sz="1200" noProof="0" dirty="0"/>
              <a:t>Hématie parasitée : plus grande que l’hématie non parasitée.</a:t>
            </a:r>
          </a:p>
          <a:p>
            <a:pPr marL="228600" lvl="0" indent="-228600">
              <a:buFont typeface="Arial" panose="020B0604020202020204" pitchFamily="34" charset="0"/>
              <a:buChar char="•"/>
            </a:pPr>
            <a:r>
              <a:rPr lang="fr-FR" sz="1200" noProof="0" dirty="0"/>
              <a:t>• forme ovale ou allongée ;</a:t>
            </a:r>
          </a:p>
          <a:p>
            <a:pPr marL="228600" lvl="0" indent="-228600">
              <a:buFont typeface="Arial" panose="020B0604020202020204" pitchFamily="34" charset="0"/>
              <a:buChar char="•"/>
            </a:pPr>
            <a:r>
              <a:rPr lang="fr-FR" sz="1200" noProof="0" dirty="0"/>
              <a:t>• contour déformé avec franges aux pôles ;</a:t>
            </a:r>
          </a:p>
          <a:p>
            <a:pPr marL="228600" lvl="0" indent="-228600">
              <a:buFont typeface="Arial" panose="020B0604020202020204" pitchFamily="34" charset="0"/>
              <a:buChar char="•"/>
            </a:pPr>
            <a:r>
              <a:rPr lang="fr-FR" sz="1200" noProof="0" dirty="0"/>
              <a:t>• granulations de James.</a:t>
            </a:r>
          </a:p>
          <a:p>
            <a:pPr marL="228600" lvl="0" indent="-228600">
              <a:buFont typeface="Arial" panose="020B0604020202020204" pitchFamily="34" charset="0"/>
              <a:buChar char="•"/>
            </a:pPr>
            <a:endParaRPr lang="fr-FR" sz="1200" noProof="0" dirty="0"/>
          </a:p>
          <a:p>
            <a:pPr marL="228600" lvl="0" indent="-228600">
              <a:buFont typeface="Arial" panose="020B0604020202020204" pitchFamily="34" charset="0"/>
              <a:buChar char="•"/>
            </a:pPr>
            <a:r>
              <a:rPr lang="fr-FR" sz="1200" noProof="0" dirty="0"/>
              <a:t>Trophozoïtes :</a:t>
            </a:r>
          </a:p>
          <a:p>
            <a:pPr marL="228600" lvl="0" indent="-228600">
              <a:buFont typeface="Arial" panose="020B0604020202020204" pitchFamily="34" charset="0"/>
              <a:buChar char="•"/>
            </a:pPr>
            <a:r>
              <a:rPr lang="fr-FR" sz="1200" noProof="0" dirty="0"/>
              <a:t>• forme ovoïde / compacte ;</a:t>
            </a:r>
          </a:p>
          <a:p>
            <a:pPr marL="228600" lvl="0" indent="-228600">
              <a:buFont typeface="Arial" panose="020B0604020202020204" pitchFamily="34" charset="0"/>
              <a:buChar char="•"/>
            </a:pPr>
            <a:r>
              <a:rPr lang="fr-FR" sz="1200" noProof="0" dirty="0"/>
              <a:t>• ne pas confondre avec la forme amiboïde caractéristique de P. vivax.</a:t>
            </a:r>
          </a:p>
          <a:p>
            <a:endParaRPr dirty="0"/>
          </a:p>
        </p:txBody>
      </p:sp>
      <p:sp>
        <p:nvSpPr>
          <p:cNvPr id="4" name="Slide Number Placeholder 3"/>
          <p:cNvSpPr>
            <a:spLocks noGrp="1"/>
          </p:cNvSpPr>
          <p:nvPr>
            <p:ph type="sldNum" sz="quarter" idx="5"/>
          </p:nvPr>
        </p:nvSpPr>
        <p:spPr/>
        <p:txBody>
          <a:bodyPr/>
          <a:lstStyle/>
          <a:p>
            <a:endParaRPr lang="fr-F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fr-FR"/>
          </a:p>
        </p:txBody>
      </p:sp>
      <p:sp>
        <p:nvSpPr>
          <p:cNvPr id="3" name="Notes Placeholder 2"/>
          <p:cNvSpPr>
            <a:spLocks noGrp="1"/>
          </p:cNvSpPr>
          <p:nvPr>
            <p:ph type="body" sz="quarter" idx="3"/>
          </p:nvPr>
        </p:nvSpPr>
        <p:spPr/>
        <p:txBody>
          <a:bodyPr/>
          <a:lstStyle/>
          <a:p>
            <a:r>
              <a:rPr dirty="0"/>
              <a:t>Parasites </a:t>
            </a:r>
            <a:r>
              <a:rPr dirty="0" err="1"/>
              <a:t>en</a:t>
            </a:r>
            <a:r>
              <a:rPr dirty="0"/>
              <a:t> </a:t>
            </a:r>
            <a:r>
              <a:rPr dirty="0" err="1"/>
              <a:t>règle</a:t>
            </a:r>
            <a:r>
              <a:rPr dirty="0"/>
              <a:t> peu </a:t>
            </a:r>
            <a:r>
              <a:rPr dirty="0" err="1"/>
              <a:t>nombreux</a:t>
            </a:r>
            <a:r>
              <a:rPr dirty="0"/>
              <a:t> ; </a:t>
            </a:r>
            <a:r>
              <a:rPr dirty="0" err="1"/>
              <a:t>frottis</a:t>
            </a:r>
            <a:r>
              <a:rPr dirty="0"/>
              <a:t> </a:t>
            </a:r>
            <a:r>
              <a:rPr dirty="0" err="1"/>
              <a:t>polymorphe</a:t>
            </a:r>
            <a:r>
              <a:rPr dirty="0"/>
              <a:t>. En goutte épaisse : </a:t>
            </a:r>
            <a:r>
              <a:rPr dirty="0" err="1"/>
              <a:t>formes</a:t>
            </a:r>
            <a:r>
              <a:rPr dirty="0"/>
              <a:t> rondes </a:t>
            </a:r>
            <a:r>
              <a:rPr dirty="0" err="1"/>
              <a:t>ou</a:t>
            </a:r>
            <a:r>
              <a:rPr dirty="0"/>
              <a:t> </a:t>
            </a:r>
            <a:r>
              <a:rPr dirty="0" err="1"/>
              <a:t>ovales</a:t>
            </a:r>
            <a:r>
              <a:rPr dirty="0"/>
              <a:t> </a:t>
            </a:r>
            <a:r>
              <a:rPr dirty="0" err="1"/>
              <a:t>compactes</a:t>
            </a:r>
            <a:r>
              <a:rPr dirty="0"/>
              <a:t> ; il est impossible </a:t>
            </a:r>
            <a:r>
              <a:rPr dirty="0" err="1"/>
              <a:t>d'établir</a:t>
            </a:r>
            <a:r>
              <a:rPr dirty="0"/>
              <a:t> un diagnostic </a:t>
            </a:r>
            <a:r>
              <a:rPr dirty="0" err="1"/>
              <a:t>d'espèce</a:t>
            </a:r>
            <a:r>
              <a:rPr dirty="0"/>
              <a:t>.</a:t>
            </a:r>
            <a:r>
              <a:rPr lang="fr-FR" dirty="0"/>
              <a:t> </a:t>
            </a:r>
          </a:p>
          <a:p>
            <a:pPr marL="228600" lvl="0" indent="-228600">
              <a:buFont typeface="Arial" panose="020B0604020202020204" pitchFamily="34" charset="0"/>
              <a:buChar char="•"/>
            </a:pPr>
            <a:r>
              <a:rPr lang="fr-FR" sz="1200" noProof="0" dirty="0"/>
              <a:t>Schizontes :</a:t>
            </a:r>
          </a:p>
          <a:p>
            <a:pPr marL="228600" lvl="0" indent="-228600">
              <a:buFont typeface="Arial" panose="020B0604020202020204" pitchFamily="34" charset="0"/>
              <a:buChar char="•"/>
            </a:pPr>
            <a:r>
              <a:rPr lang="fr-FR" sz="1200" noProof="0" dirty="0"/>
              <a:t>• arrondis, au centre de l’hématie ;</a:t>
            </a:r>
          </a:p>
          <a:p>
            <a:pPr marL="228600" lvl="0" indent="-228600">
              <a:buFont typeface="Arial" panose="020B0604020202020204" pitchFamily="34" charset="0"/>
              <a:buChar char="•"/>
            </a:pPr>
            <a:r>
              <a:rPr lang="fr-FR" sz="1200" noProof="0" dirty="0"/>
              <a:t>• 4 à 12 mérozoïtes ;</a:t>
            </a:r>
          </a:p>
          <a:p>
            <a:pPr marL="228600" lvl="0" indent="-228600">
              <a:buFont typeface="Arial" panose="020B0604020202020204" pitchFamily="34" charset="0"/>
              <a:buChar char="•"/>
            </a:pPr>
            <a:r>
              <a:rPr lang="fr-FR" sz="1200" noProof="0" dirty="0"/>
              <a:t>• disposition irrégulière.</a:t>
            </a:r>
          </a:p>
          <a:p>
            <a:pPr marL="228600" lvl="0" indent="-228600">
              <a:buFont typeface="Arial" panose="020B0604020202020204" pitchFamily="34" charset="0"/>
              <a:buChar char="•"/>
            </a:pPr>
            <a:endParaRPr lang="fr-FR" sz="1200" noProof="0" dirty="0"/>
          </a:p>
          <a:p>
            <a:pPr marL="228600" lvl="0" indent="-228600">
              <a:buFont typeface="Arial" panose="020B0604020202020204" pitchFamily="34" charset="0"/>
              <a:buChar char="•"/>
            </a:pPr>
            <a:r>
              <a:rPr lang="fr-FR" sz="1200" noProof="0" dirty="0"/>
              <a:t>Cette disposition aide au diagnostic différentiel avec P. malariae, dont les mérozoïtes sont régulièrement disposés.</a:t>
            </a:r>
          </a:p>
          <a:p>
            <a:pPr marL="228600" lvl="0" indent="-228600">
              <a:buFont typeface="Arial" panose="020B0604020202020204" pitchFamily="34" charset="0"/>
              <a:buChar char="•"/>
            </a:pPr>
            <a:endParaRPr lang="fr-FR" sz="1200" noProof="0" dirty="0"/>
          </a:p>
          <a:p>
            <a:pPr marL="228600" lvl="0" indent="-228600">
              <a:buFont typeface="Arial" panose="020B0604020202020204" pitchFamily="34" charset="0"/>
              <a:buChar char="•"/>
            </a:pPr>
            <a:r>
              <a:rPr lang="fr-FR" sz="1200" noProof="0" dirty="0"/>
              <a:t>Gamétocytes : présence de formes arrondies et pâles.</a:t>
            </a:r>
          </a:p>
          <a:p>
            <a:endParaRPr dirty="0"/>
          </a:p>
        </p:txBody>
      </p:sp>
      <p:sp>
        <p:nvSpPr>
          <p:cNvPr id="4" name="Slide Number Placeholder 3"/>
          <p:cNvSpPr>
            <a:spLocks noGrp="1"/>
          </p:cNvSpPr>
          <p:nvPr>
            <p:ph type="sldNum" sz="quarter" idx="5"/>
          </p:nvPr>
        </p:nvSpPr>
        <p:spPr/>
        <p:txBody>
          <a:bodyPr/>
          <a:lstStyle/>
          <a:p>
            <a:endParaRPr lang="fr-F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fr-FR"/>
          </a:p>
        </p:txBody>
      </p:sp>
      <p:sp>
        <p:nvSpPr>
          <p:cNvPr id="3" name="Notes Placeholder 2"/>
          <p:cNvSpPr>
            <a:spLocks noGrp="1"/>
          </p:cNvSpPr>
          <p:nvPr>
            <p:ph type="body" sz="quarter" idx="3"/>
          </p:nvPr>
        </p:nvSpPr>
        <p:spPr/>
        <p:txBody>
          <a:bodyPr/>
          <a:lstStyle/>
          <a:p>
            <a:r>
              <a:rPr dirty="0" err="1"/>
              <a:t>L'activité</a:t>
            </a:r>
            <a:r>
              <a:rPr dirty="0"/>
              <a:t> </a:t>
            </a:r>
            <a:r>
              <a:rPr dirty="0" err="1"/>
              <a:t>amiboïde</a:t>
            </a:r>
            <a:r>
              <a:rPr dirty="0"/>
              <a:t> </a:t>
            </a:r>
            <a:r>
              <a:rPr dirty="0" err="1"/>
              <a:t>apparaît</a:t>
            </a:r>
            <a:r>
              <a:rPr dirty="0"/>
              <a:t> au bout de 8 </a:t>
            </a:r>
            <a:r>
              <a:rPr dirty="0" err="1"/>
              <a:t>heures</a:t>
            </a:r>
            <a:r>
              <a:rPr dirty="0"/>
              <a:t> : </a:t>
            </a:r>
            <a:r>
              <a:rPr dirty="0" err="1"/>
              <a:t>forme</a:t>
            </a:r>
            <a:r>
              <a:rPr dirty="0"/>
              <a:t> </a:t>
            </a:r>
            <a:r>
              <a:rPr dirty="0" err="1"/>
              <a:t>irrégulière</a:t>
            </a:r>
            <a:r>
              <a:rPr dirty="0"/>
              <a:t>, fantasque et </a:t>
            </a:r>
            <a:r>
              <a:rPr dirty="0" err="1"/>
              <a:t>tourmentée</a:t>
            </a:r>
            <a:r>
              <a:rPr dirty="0"/>
              <a:t>. En goutte épaisse, </a:t>
            </a:r>
            <a:r>
              <a:rPr dirty="0" err="1"/>
              <a:t>l'anneau</a:t>
            </a:r>
            <a:r>
              <a:rPr dirty="0"/>
              <a:t> et le noyau </a:t>
            </a:r>
            <a:r>
              <a:rPr dirty="0" err="1"/>
              <a:t>sont</a:t>
            </a:r>
            <a:r>
              <a:rPr dirty="0"/>
              <a:t> </a:t>
            </a:r>
            <a:r>
              <a:rPr dirty="0" err="1"/>
              <a:t>souvent</a:t>
            </a:r>
            <a:r>
              <a:rPr dirty="0"/>
              <a:t> </a:t>
            </a:r>
            <a:r>
              <a:rPr dirty="0" err="1"/>
              <a:t>fragmentés</a:t>
            </a:r>
            <a:r>
              <a:rPr dirty="0"/>
              <a:t>.</a:t>
            </a:r>
            <a:endParaRPr lang="fr-FR" dirty="0"/>
          </a:p>
          <a:p>
            <a:endParaRPr lang="fr-FR" dirty="0"/>
          </a:p>
          <a:p>
            <a:pPr marL="228600" lvl="0" indent="-228600">
              <a:buFont typeface="Arial" panose="020B0604020202020204" pitchFamily="34" charset="0"/>
              <a:buChar char="•"/>
            </a:pPr>
            <a:r>
              <a:rPr lang="fr-FR" sz="1200" noProof="0" dirty="0"/>
              <a:t>Avant tout : comparer l’hématie parasitée à l’hématie non parasitée.</a:t>
            </a:r>
          </a:p>
          <a:p>
            <a:pPr marL="228600" lvl="0" indent="-228600">
              <a:buFont typeface="Arial" panose="020B0604020202020204" pitchFamily="34" charset="0"/>
              <a:buChar char="•"/>
            </a:pPr>
            <a:r>
              <a:rPr lang="fr-FR" sz="1200" noProof="0" dirty="0"/>
              <a:t>Hématie parasitée : nettement augmentée de taille / distendue.</a:t>
            </a:r>
          </a:p>
          <a:p>
            <a:pPr marL="228600" lvl="0" indent="-228600">
              <a:buFont typeface="Arial" panose="020B0604020202020204" pitchFamily="34" charset="0"/>
              <a:buChar char="•"/>
            </a:pPr>
            <a:endParaRPr lang="fr-FR" sz="1200" noProof="0" dirty="0"/>
          </a:p>
          <a:p>
            <a:pPr marL="228600" lvl="0" indent="-228600">
              <a:buFont typeface="Arial" panose="020B0604020202020204" pitchFamily="34" charset="0"/>
              <a:buChar char="•"/>
            </a:pPr>
            <a:r>
              <a:rPr lang="fr-FR" sz="1200" noProof="0" dirty="0"/>
              <a:t>Trophozoïtes jeunes :</a:t>
            </a:r>
          </a:p>
          <a:p>
            <a:pPr marL="228600" lvl="0" indent="-228600">
              <a:buFont typeface="Arial" panose="020B0604020202020204" pitchFamily="34" charset="0"/>
              <a:buChar char="•"/>
            </a:pPr>
            <a:r>
              <a:rPr lang="fr-FR" sz="1200" noProof="0" dirty="0"/>
              <a:t>• forme annulaire.</a:t>
            </a:r>
          </a:p>
          <a:p>
            <a:pPr marL="228600" lvl="0" indent="-228600">
              <a:buFont typeface="Arial" panose="020B0604020202020204" pitchFamily="34" charset="0"/>
              <a:buChar char="•"/>
            </a:pPr>
            <a:endParaRPr lang="fr-FR" sz="1200" noProof="0" dirty="0"/>
          </a:p>
          <a:p>
            <a:pPr marL="228600" lvl="0" indent="-228600">
              <a:buFont typeface="Arial" panose="020B0604020202020204" pitchFamily="34" charset="0"/>
              <a:buChar char="•"/>
            </a:pPr>
            <a:r>
              <a:rPr lang="fr-FR" sz="1200" noProof="0" dirty="0"/>
              <a:t>Trophozoïtes âgés :</a:t>
            </a:r>
          </a:p>
          <a:p>
            <a:pPr marL="228600" lvl="0" indent="-228600">
              <a:buFont typeface="Arial" panose="020B0604020202020204" pitchFamily="34" charset="0"/>
              <a:buChar char="•"/>
            </a:pPr>
            <a:r>
              <a:rPr lang="fr-FR" sz="1200" noProof="0" dirty="0"/>
              <a:t>• forme amiboïde, avec cytoplasme irrégulier ;</a:t>
            </a:r>
          </a:p>
          <a:p>
            <a:pPr marL="228600" lvl="0" indent="-228600">
              <a:buFont typeface="Arial" panose="020B0604020202020204" pitchFamily="34" charset="0"/>
              <a:buChar char="•"/>
            </a:pPr>
            <a:r>
              <a:rPr lang="fr-FR" sz="1200" noProof="0" dirty="0"/>
              <a:t>• granulations de Schüffner.</a:t>
            </a:r>
          </a:p>
          <a:p>
            <a:endParaRPr dirty="0"/>
          </a:p>
        </p:txBody>
      </p:sp>
      <p:sp>
        <p:nvSpPr>
          <p:cNvPr id="4" name="Slide Number Placeholder 3"/>
          <p:cNvSpPr>
            <a:spLocks noGrp="1"/>
          </p:cNvSpPr>
          <p:nvPr>
            <p:ph type="sldNum" sz="quarter" idx="5"/>
          </p:nvPr>
        </p:nvSpPr>
        <p:spPr/>
        <p:txBody>
          <a:bodyPr/>
          <a:lstStyle/>
          <a:p>
            <a:endParaRPr lang="fr-F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fr-FR"/>
          </a:p>
        </p:txBody>
      </p:sp>
      <p:sp>
        <p:nvSpPr>
          <p:cNvPr id="3" name="Notes Placeholder 2"/>
          <p:cNvSpPr>
            <a:spLocks noGrp="1"/>
          </p:cNvSpPr>
          <p:nvPr>
            <p:ph type="body" sz="quarter" idx="3"/>
          </p:nvPr>
        </p:nvSpPr>
        <p:spPr/>
        <p:txBody>
          <a:bodyPr/>
          <a:lstStyle/>
          <a:p>
            <a:r>
              <a:rPr dirty="0"/>
              <a:t>Frottis très </a:t>
            </a:r>
            <a:r>
              <a:rPr dirty="0" err="1"/>
              <a:t>panaché</a:t>
            </a:r>
            <a:r>
              <a:rPr dirty="0"/>
              <a:t>, avec </a:t>
            </a:r>
            <a:r>
              <a:rPr dirty="0" err="1"/>
              <a:t>tous</a:t>
            </a:r>
            <a:r>
              <a:rPr dirty="0"/>
              <a:t> les </a:t>
            </a:r>
            <a:r>
              <a:rPr dirty="0" err="1"/>
              <a:t>stades</a:t>
            </a:r>
            <a:r>
              <a:rPr dirty="0"/>
              <a:t> </a:t>
            </a:r>
            <a:r>
              <a:rPr dirty="0" err="1"/>
              <a:t>évolutifs</a:t>
            </a:r>
            <a:r>
              <a:rPr dirty="0"/>
              <a:t> ; </a:t>
            </a:r>
            <a:r>
              <a:rPr dirty="0" err="1"/>
              <a:t>parasitisme</a:t>
            </a:r>
            <a:r>
              <a:rPr dirty="0"/>
              <a:t> </a:t>
            </a:r>
            <a:r>
              <a:rPr dirty="0" err="1"/>
              <a:t>moins</a:t>
            </a:r>
            <a:r>
              <a:rPr dirty="0"/>
              <a:t> intense </a:t>
            </a:r>
            <a:r>
              <a:rPr dirty="0" err="1"/>
              <a:t>qu'avec</a:t>
            </a:r>
            <a:r>
              <a:rPr dirty="0"/>
              <a:t> P. falciparum. En goutte épaisse, les </a:t>
            </a:r>
            <a:r>
              <a:rPr dirty="0" err="1"/>
              <a:t>gamétocytes</a:t>
            </a:r>
            <a:r>
              <a:rPr dirty="0"/>
              <a:t> </a:t>
            </a:r>
            <a:r>
              <a:rPr dirty="0" err="1"/>
              <a:t>sont</a:t>
            </a:r>
            <a:r>
              <a:rPr dirty="0"/>
              <a:t> </a:t>
            </a:r>
            <a:r>
              <a:rPr dirty="0" err="1"/>
              <a:t>difficiles</a:t>
            </a:r>
            <a:r>
              <a:rPr dirty="0"/>
              <a:t> à </a:t>
            </a:r>
            <a:r>
              <a:rPr dirty="0" err="1"/>
              <a:t>différencier</a:t>
            </a:r>
            <a:r>
              <a:rPr dirty="0"/>
              <a:t> des </a:t>
            </a:r>
            <a:r>
              <a:rPr dirty="0" err="1"/>
              <a:t>schizontes</a:t>
            </a:r>
            <a:r>
              <a:rPr dirty="0"/>
              <a:t>.</a:t>
            </a:r>
            <a:endParaRPr lang="fr-FR" dirty="0"/>
          </a:p>
          <a:p>
            <a:endParaRPr lang="fr-FR" dirty="0"/>
          </a:p>
          <a:p>
            <a:pPr marL="228600" lvl="0" indent="-228600">
              <a:buFont typeface="Arial" panose="020B0604020202020204" pitchFamily="34" charset="0"/>
              <a:buChar char="•"/>
            </a:pPr>
            <a:r>
              <a:rPr lang="fr-FR" sz="1200" noProof="0" dirty="0"/>
              <a:t>Schizontes :</a:t>
            </a:r>
          </a:p>
          <a:p>
            <a:pPr marL="228600" lvl="0" indent="-228600">
              <a:buFont typeface="Arial" panose="020B0604020202020204" pitchFamily="34" charset="0"/>
              <a:buChar char="•"/>
            </a:pPr>
            <a:r>
              <a:rPr lang="fr-FR" sz="1200" noProof="0" dirty="0"/>
              <a:t>• hématie distendue et pâle ;</a:t>
            </a:r>
          </a:p>
          <a:p>
            <a:pPr marL="228600" lvl="0" indent="-228600">
              <a:buFont typeface="Arial" panose="020B0604020202020204" pitchFamily="34" charset="0"/>
              <a:buChar char="•"/>
            </a:pPr>
            <a:r>
              <a:rPr lang="fr-FR" sz="1200" noProof="0" dirty="0"/>
              <a:t>• 12 à 24 mérozoïtes ;</a:t>
            </a:r>
          </a:p>
          <a:p>
            <a:pPr marL="228600" lvl="0" indent="-228600">
              <a:buFont typeface="Arial" panose="020B0604020202020204" pitchFamily="34" charset="0"/>
              <a:buChar char="•"/>
            </a:pPr>
            <a:r>
              <a:rPr lang="fr-FR" sz="1200" noProof="0" dirty="0"/>
              <a:t>• pigment fin et granulations de Schüffner.</a:t>
            </a:r>
          </a:p>
          <a:p>
            <a:pPr marL="228600" lvl="0" indent="-228600">
              <a:buFont typeface="Arial" panose="020B0604020202020204" pitchFamily="34" charset="0"/>
              <a:buChar char="•"/>
            </a:pPr>
            <a:endParaRPr lang="fr-FR" sz="1200" noProof="0" dirty="0"/>
          </a:p>
          <a:p>
            <a:pPr marL="228600" lvl="0" indent="-228600">
              <a:buFont typeface="Arial" panose="020B0604020202020204" pitchFamily="34" charset="0"/>
              <a:buChar char="•"/>
            </a:pPr>
            <a:r>
              <a:rPr lang="fr-FR" sz="1200" noProof="0" dirty="0"/>
              <a:t>Gamétocytes : présence de gamétocytes, occupant largement l’hématie.</a:t>
            </a:r>
          </a:p>
          <a:p>
            <a:pPr marL="228600" lvl="0" indent="-228600">
              <a:buFont typeface="Arial" panose="020B0604020202020204" pitchFamily="34" charset="0"/>
              <a:buChar char="•"/>
            </a:pPr>
            <a:endParaRPr lang="fr-FR" sz="1200" noProof="0" dirty="0"/>
          </a:p>
          <a:p>
            <a:pPr marL="228600" lvl="0" indent="-228600">
              <a:buFont typeface="Arial" panose="020B0604020202020204" pitchFamily="34" charset="0"/>
              <a:buChar char="•"/>
            </a:pPr>
            <a:r>
              <a:rPr lang="fr-FR" sz="1200" noProof="0" dirty="0"/>
              <a:t>La forme amiboïde des trophozoïtes âgés constitue un caractère important du diagnostic différentiel.</a:t>
            </a:r>
          </a:p>
          <a:p>
            <a:endParaRPr dirty="0"/>
          </a:p>
        </p:txBody>
      </p:sp>
      <p:sp>
        <p:nvSpPr>
          <p:cNvPr id="4" name="Slide Number Placeholder 3"/>
          <p:cNvSpPr>
            <a:spLocks noGrp="1"/>
          </p:cNvSpPr>
          <p:nvPr>
            <p:ph type="sldNum" sz="quarter" idx="5"/>
          </p:nvPr>
        </p:nvSpPr>
        <p:spPr/>
        <p:txBody>
          <a:bodyPr/>
          <a:lstStyle/>
          <a:p>
            <a:endParaRPr lang="fr-F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 L’identification repose sur l’ensemble des critères morphologiques observés au frottis.</a:t>
            </a:r>
          </a:p>
          <a:p>
            <a:endParaRPr lang="fr-FR" dirty="0"/>
          </a:p>
        </p:txBody>
      </p:sp>
      <p:sp>
        <p:nvSpPr>
          <p:cNvPr id="4" name="Espace réservé du numéro de diapositive 3"/>
          <p:cNvSpPr>
            <a:spLocks noGrp="1"/>
          </p:cNvSpPr>
          <p:nvPr>
            <p:ph type="sldNum" sz="quarter" idx="5"/>
          </p:nvPr>
        </p:nvSpPr>
        <p:spPr/>
        <p:txBody>
          <a:bodyPr/>
          <a:lstStyle/>
          <a:p>
            <a:fld id="{0074D4BD-A461-9A4C-B760-1D192F0E9B1A}" type="slidenum">
              <a:rPr lang="fr-BJ" smtClean="0"/>
              <a:t>14</a:t>
            </a:fld>
            <a:endParaRPr lang="fr-BJ"/>
          </a:p>
        </p:txBody>
      </p:sp>
    </p:spTree>
    <p:extLst>
      <p:ext uri="{BB962C8B-B14F-4D97-AF65-F5344CB8AC3E}">
        <p14:creationId xmlns:p14="http://schemas.microsoft.com/office/powerpoint/2010/main" val="14745181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08724FBC-C938-2D48-BAA9-71187C2E8392}" type="datetime1">
              <a:rPr lang="fr-FR" smtClean="0"/>
              <a:t>05/10/2026</a:t>
            </a:fld>
            <a:endParaRPr lang="fr-BJ"/>
          </a:p>
        </p:txBody>
      </p:sp>
      <p:sp>
        <p:nvSpPr>
          <p:cNvPr id="5" name="Footer Placeholder 4"/>
          <p:cNvSpPr>
            <a:spLocks noGrp="1"/>
          </p:cNvSpPr>
          <p:nvPr>
            <p:ph type="ftr" sz="quarter" idx="11"/>
          </p:nvPr>
        </p:nvSpPr>
        <p:spPr/>
        <p:txBody>
          <a:bodyPr/>
          <a:lstStyle/>
          <a:p>
            <a:endParaRPr lang="fr-BJ"/>
          </a:p>
        </p:txBody>
      </p:sp>
      <p:sp>
        <p:nvSpPr>
          <p:cNvPr id="6" name="Slide Number Placeholder 5"/>
          <p:cNvSpPr>
            <a:spLocks noGrp="1"/>
          </p:cNvSpPr>
          <p:nvPr>
            <p:ph type="sldNum" sz="quarter" idx="12"/>
          </p:nvPr>
        </p:nvSpPr>
        <p:spPr/>
        <p:txBody>
          <a:bodyPr/>
          <a:lstStyle/>
          <a:p>
            <a:fld id="{39EF7B87-54F1-4742-8D6A-0D0336FE60E1}" type="slidenum">
              <a:rPr lang="fr-BJ" smtClean="0"/>
              <a:t>‹N°›</a:t>
            </a:fld>
            <a:endParaRPr lang="fr-BJ"/>
          </a:p>
        </p:txBody>
      </p:sp>
    </p:spTree>
    <p:extLst>
      <p:ext uri="{BB962C8B-B14F-4D97-AF65-F5344CB8AC3E}">
        <p14:creationId xmlns:p14="http://schemas.microsoft.com/office/powerpoint/2010/main" val="5504513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3F9A12D2-8E70-224A-8933-BE8F4B26778E}" type="datetime1">
              <a:rPr lang="fr-FR" smtClean="0"/>
              <a:t>05/10/2026</a:t>
            </a:fld>
            <a:endParaRPr lang="fr-BJ"/>
          </a:p>
        </p:txBody>
      </p:sp>
      <p:sp>
        <p:nvSpPr>
          <p:cNvPr id="5" name="Footer Placeholder 4"/>
          <p:cNvSpPr>
            <a:spLocks noGrp="1"/>
          </p:cNvSpPr>
          <p:nvPr>
            <p:ph type="ftr" sz="quarter" idx="11"/>
          </p:nvPr>
        </p:nvSpPr>
        <p:spPr/>
        <p:txBody>
          <a:bodyPr/>
          <a:lstStyle/>
          <a:p>
            <a:endParaRPr lang="fr-BJ"/>
          </a:p>
        </p:txBody>
      </p:sp>
      <p:sp>
        <p:nvSpPr>
          <p:cNvPr id="6" name="Slide Number Placeholder 5"/>
          <p:cNvSpPr>
            <a:spLocks noGrp="1"/>
          </p:cNvSpPr>
          <p:nvPr>
            <p:ph type="sldNum" sz="quarter" idx="12"/>
          </p:nvPr>
        </p:nvSpPr>
        <p:spPr/>
        <p:txBody>
          <a:bodyPr/>
          <a:lstStyle/>
          <a:p>
            <a:fld id="{39EF7B87-54F1-4742-8D6A-0D0336FE60E1}" type="slidenum">
              <a:rPr lang="fr-BJ" smtClean="0"/>
              <a:t>‹N°›</a:t>
            </a:fld>
            <a:endParaRPr lang="fr-BJ"/>
          </a:p>
        </p:txBody>
      </p:sp>
    </p:spTree>
    <p:extLst>
      <p:ext uri="{BB962C8B-B14F-4D97-AF65-F5344CB8AC3E}">
        <p14:creationId xmlns:p14="http://schemas.microsoft.com/office/powerpoint/2010/main" val="3576570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3BFAA0B-2D69-3549-B591-F85337BF109B}" type="datetime1">
              <a:rPr lang="fr-FR" smtClean="0"/>
              <a:t>05/10/2026</a:t>
            </a:fld>
            <a:endParaRPr lang="fr-BJ"/>
          </a:p>
        </p:txBody>
      </p:sp>
      <p:sp>
        <p:nvSpPr>
          <p:cNvPr id="5" name="Footer Placeholder 4"/>
          <p:cNvSpPr>
            <a:spLocks noGrp="1"/>
          </p:cNvSpPr>
          <p:nvPr>
            <p:ph type="ftr" sz="quarter" idx="11"/>
          </p:nvPr>
        </p:nvSpPr>
        <p:spPr/>
        <p:txBody>
          <a:bodyPr/>
          <a:lstStyle/>
          <a:p>
            <a:endParaRPr lang="fr-BJ"/>
          </a:p>
        </p:txBody>
      </p:sp>
      <p:sp>
        <p:nvSpPr>
          <p:cNvPr id="6" name="Slide Number Placeholder 5"/>
          <p:cNvSpPr>
            <a:spLocks noGrp="1"/>
          </p:cNvSpPr>
          <p:nvPr>
            <p:ph type="sldNum" sz="quarter" idx="12"/>
          </p:nvPr>
        </p:nvSpPr>
        <p:spPr/>
        <p:txBody>
          <a:bodyPr/>
          <a:lstStyle/>
          <a:p>
            <a:fld id="{39EF7B87-54F1-4742-8D6A-0D0336FE60E1}" type="slidenum">
              <a:rPr lang="fr-BJ" smtClean="0"/>
              <a:t>‹N°›</a:t>
            </a:fld>
            <a:endParaRPr lang="fr-BJ"/>
          </a:p>
        </p:txBody>
      </p:sp>
    </p:spTree>
    <p:extLst>
      <p:ext uri="{BB962C8B-B14F-4D97-AF65-F5344CB8AC3E}">
        <p14:creationId xmlns:p14="http://schemas.microsoft.com/office/powerpoint/2010/main" val="16386996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7E9C21AA-5673-CD4E-87B0-08863F68FBF8}" type="datetime1">
              <a:rPr lang="fr-FR" smtClean="0"/>
              <a:t>05/10/2026</a:t>
            </a:fld>
            <a:endParaRPr lang="fr-BJ"/>
          </a:p>
        </p:txBody>
      </p:sp>
      <p:sp>
        <p:nvSpPr>
          <p:cNvPr id="6" name="Footer Placeholder 5"/>
          <p:cNvSpPr>
            <a:spLocks noGrp="1"/>
          </p:cNvSpPr>
          <p:nvPr>
            <p:ph type="ftr" sz="quarter" idx="11"/>
          </p:nvPr>
        </p:nvSpPr>
        <p:spPr/>
        <p:txBody>
          <a:bodyPr/>
          <a:lstStyle/>
          <a:p>
            <a:endParaRPr lang="fr-BJ"/>
          </a:p>
        </p:txBody>
      </p:sp>
      <p:sp>
        <p:nvSpPr>
          <p:cNvPr id="7" name="Slide Number Placeholder 6"/>
          <p:cNvSpPr>
            <a:spLocks noGrp="1"/>
          </p:cNvSpPr>
          <p:nvPr>
            <p:ph type="sldNum" sz="quarter" idx="12"/>
          </p:nvPr>
        </p:nvSpPr>
        <p:spPr/>
        <p:txBody>
          <a:bodyPr/>
          <a:lstStyle/>
          <a:p>
            <a:fld id="{39EF7B87-54F1-4742-8D6A-0D0336FE60E1}" type="slidenum">
              <a:rPr lang="fr-BJ" smtClean="0"/>
              <a:t>‹N°›</a:t>
            </a:fld>
            <a:endParaRPr lang="fr-BJ"/>
          </a:p>
        </p:txBody>
      </p:sp>
    </p:spTree>
    <p:extLst>
      <p:ext uri="{BB962C8B-B14F-4D97-AF65-F5344CB8AC3E}">
        <p14:creationId xmlns:p14="http://schemas.microsoft.com/office/powerpoint/2010/main" val="3276781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29842" y="2505075"/>
            <a:ext cx="3868340"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4629150" y="2505075"/>
            <a:ext cx="3887391"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F2AB5C99-688B-3847-BCA4-B5975E6E83E0}" type="datetime1">
              <a:rPr lang="fr-FR" smtClean="0"/>
              <a:t>05/10/2026</a:t>
            </a:fld>
            <a:endParaRPr lang="fr-BJ"/>
          </a:p>
        </p:txBody>
      </p:sp>
      <p:sp>
        <p:nvSpPr>
          <p:cNvPr id="8" name="Footer Placeholder 7"/>
          <p:cNvSpPr>
            <a:spLocks noGrp="1"/>
          </p:cNvSpPr>
          <p:nvPr>
            <p:ph type="ftr" sz="quarter" idx="11"/>
          </p:nvPr>
        </p:nvSpPr>
        <p:spPr/>
        <p:txBody>
          <a:bodyPr/>
          <a:lstStyle/>
          <a:p>
            <a:endParaRPr lang="fr-BJ"/>
          </a:p>
        </p:txBody>
      </p:sp>
      <p:sp>
        <p:nvSpPr>
          <p:cNvPr id="9" name="Slide Number Placeholder 8"/>
          <p:cNvSpPr>
            <a:spLocks noGrp="1"/>
          </p:cNvSpPr>
          <p:nvPr>
            <p:ph type="sldNum" sz="quarter" idx="12"/>
          </p:nvPr>
        </p:nvSpPr>
        <p:spPr/>
        <p:txBody>
          <a:bodyPr/>
          <a:lstStyle/>
          <a:p>
            <a:fld id="{39EF7B87-54F1-4742-8D6A-0D0336FE60E1}" type="slidenum">
              <a:rPr lang="fr-BJ" smtClean="0"/>
              <a:t>‹N°›</a:t>
            </a:fld>
            <a:endParaRPr lang="fr-BJ"/>
          </a:p>
        </p:txBody>
      </p:sp>
    </p:spTree>
    <p:extLst>
      <p:ext uri="{BB962C8B-B14F-4D97-AF65-F5344CB8AC3E}">
        <p14:creationId xmlns:p14="http://schemas.microsoft.com/office/powerpoint/2010/main" val="3544358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ABA40C15-029D-F741-8B91-FFCA007D5763}" type="datetime1">
              <a:rPr lang="fr-FR" smtClean="0"/>
              <a:t>05/10/2026</a:t>
            </a:fld>
            <a:endParaRPr lang="fr-BJ"/>
          </a:p>
        </p:txBody>
      </p:sp>
      <p:sp>
        <p:nvSpPr>
          <p:cNvPr id="4" name="Footer Placeholder 3"/>
          <p:cNvSpPr>
            <a:spLocks noGrp="1"/>
          </p:cNvSpPr>
          <p:nvPr>
            <p:ph type="ftr" sz="quarter" idx="11"/>
          </p:nvPr>
        </p:nvSpPr>
        <p:spPr/>
        <p:txBody>
          <a:bodyPr/>
          <a:lstStyle/>
          <a:p>
            <a:endParaRPr lang="fr-BJ"/>
          </a:p>
        </p:txBody>
      </p:sp>
      <p:sp>
        <p:nvSpPr>
          <p:cNvPr id="5" name="Slide Number Placeholder 4"/>
          <p:cNvSpPr>
            <a:spLocks noGrp="1"/>
          </p:cNvSpPr>
          <p:nvPr>
            <p:ph type="sldNum" sz="quarter" idx="12"/>
          </p:nvPr>
        </p:nvSpPr>
        <p:spPr/>
        <p:txBody>
          <a:bodyPr/>
          <a:lstStyle/>
          <a:p>
            <a:fld id="{39EF7B87-54F1-4742-8D6A-0D0336FE60E1}" type="slidenum">
              <a:rPr lang="fr-BJ" smtClean="0"/>
              <a:t>‹N°›</a:t>
            </a:fld>
            <a:endParaRPr lang="fr-BJ"/>
          </a:p>
        </p:txBody>
      </p:sp>
    </p:spTree>
    <p:extLst>
      <p:ext uri="{BB962C8B-B14F-4D97-AF65-F5344CB8AC3E}">
        <p14:creationId xmlns:p14="http://schemas.microsoft.com/office/powerpoint/2010/main" val="8527809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47929C-DA3B-0D41-A4BC-2AA05D04C56C}" type="datetime1">
              <a:rPr lang="fr-FR" smtClean="0"/>
              <a:t>05/10/2026</a:t>
            </a:fld>
            <a:endParaRPr lang="fr-BJ"/>
          </a:p>
        </p:txBody>
      </p:sp>
      <p:sp>
        <p:nvSpPr>
          <p:cNvPr id="3" name="Footer Placeholder 2"/>
          <p:cNvSpPr>
            <a:spLocks noGrp="1"/>
          </p:cNvSpPr>
          <p:nvPr>
            <p:ph type="ftr" sz="quarter" idx="11"/>
          </p:nvPr>
        </p:nvSpPr>
        <p:spPr/>
        <p:txBody>
          <a:bodyPr/>
          <a:lstStyle/>
          <a:p>
            <a:endParaRPr lang="fr-BJ"/>
          </a:p>
        </p:txBody>
      </p:sp>
      <p:sp>
        <p:nvSpPr>
          <p:cNvPr id="4" name="Slide Number Placeholder 3"/>
          <p:cNvSpPr>
            <a:spLocks noGrp="1"/>
          </p:cNvSpPr>
          <p:nvPr>
            <p:ph type="sldNum" sz="quarter" idx="12"/>
          </p:nvPr>
        </p:nvSpPr>
        <p:spPr/>
        <p:txBody>
          <a:bodyPr/>
          <a:lstStyle/>
          <a:p>
            <a:fld id="{39EF7B87-54F1-4742-8D6A-0D0336FE60E1}" type="slidenum">
              <a:rPr lang="fr-BJ" smtClean="0"/>
              <a:t>‹N°›</a:t>
            </a:fld>
            <a:endParaRPr lang="fr-BJ"/>
          </a:p>
        </p:txBody>
      </p:sp>
    </p:spTree>
    <p:extLst>
      <p:ext uri="{BB962C8B-B14F-4D97-AF65-F5344CB8AC3E}">
        <p14:creationId xmlns:p14="http://schemas.microsoft.com/office/powerpoint/2010/main" val="1709821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A25B5A7E-FF58-2147-B567-5E3F7E39B664}" type="datetime1">
              <a:rPr lang="fr-FR" smtClean="0"/>
              <a:t>05/10/2026</a:t>
            </a:fld>
            <a:endParaRPr lang="fr-BJ"/>
          </a:p>
        </p:txBody>
      </p:sp>
      <p:sp>
        <p:nvSpPr>
          <p:cNvPr id="6" name="Footer Placeholder 5"/>
          <p:cNvSpPr>
            <a:spLocks noGrp="1"/>
          </p:cNvSpPr>
          <p:nvPr>
            <p:ph type="ftr" sz="quarter" idx="11"/>
          </p:nvPr>
        </p:nvSpPr>
        <p:spPr/>
        <p:txBody>
          <a:bodyPr/>
          <a:lstStyle/>
          <a:p>
            <a:endParaRPr lang="fr-BJ"/>
          </a:p>
        </p:txBody>
      </p:sp>
      <p:sp>
        <p:nvSpPr>
          <p:cNvPr id="7" name="Slide Number Placeholder 6"/>
          <p:cNvSpPr>
            <a:spLocks noGrp="1"/>
          </p:cNvSpPr>
          <p:nvPr>
            <p:ph type="sldNum" sz="quarter" idx="12"/>
          </p:nvPr>
        </p:nvSpPr>
        <p:spPr/>
        <p:txBody>
          <a:bodyPr/>
          <a:lstStyle/>
          <a:p>
            <a:fld id="{39EF7B87-54F1-4742-8D6A-0D0336FE60E1}" type="slidenum">
              <a:rPr lang="fr-BJ" smtClean="0"/>
              <a:t>‹N°›</a:t>
            </a:fld>
            <a:endParaRPr lang="fr-BJ"/>
          </a:p>
        </p:txBody>
      </p:sp>
    </p:spTree>
    <p:extLst>
      <p:ext uri="{BB962C8B-B14F-4D97-AF65-F5344CB8AC3E}">
        <p14:creationId xmlns:p14="http://schemas.microsoft.com/office/powerpoint/2010/main" val="536290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281B32A9-DD9D-7A4F-82B9-6B5B7300DF2B}" type="datetime1">
              <a:rPr lang="fr-FR" smtClean="0"/>
              <a:t>05/10/2026</a:t>
            </a:fld>
            <a:endParaRPr lang="fr-BJ"/>
          </a:p>
        </p:txBody>
      </p:sp>
      <p:sp>
        <p:nvSpPr>
          <p:cNvPr id="6" name="Footer Placeholder 5"/>
          <p:cNvSpPr>
            <a:spLocks noGrp="1"/>
          </p:cNvSpPr>
          <p:nvPr>
            <p:ph type="ftr" sz="quarter" idx="11"/>
          </p:nvPr>
        </p:nvSpPr>
        <p:spPr/>
        <p:txBody>
          <a:bodyPr/>
          <a:lstStyle/>
          <a:p>
            <a:endParaRPr lang="fr-BJ"/>
          </a:p>
        </p:txBody>
      </p:sp>
      <p:sp>
        <p:nvSpPr>
          <p:cNvPr id="7" name="Slide Number Placeholder 6"/>
          <p:cNvSpPr>
            <a:spLocks noGrp="1"/>
          </p:cNvSpPr>
          <p:nvPr>
            <p:ph type="sldNum" sz="quarter" idx="12"/>
          </p:nvPr>
        </p:nvSpPr>
        <p:spPr/>
        <p:txBody>
          <a:bodyPr/>
          <a:lstStyle/>
          <a:p>
            <a:fld id="{39EF7B87-54F1-4742-8D6A-0D0336FE60E1}" type="slidenum">
              <a:rPr lang="fr-BJ" smtClean="0"/>
              <a:t>‹N°›</a:t>
            </a:fld>
            <a:endParaRPr lang="fr-BJ"/>
          </a:p>
        </p:txBody>
      </p:sp>
    </p:spTree>
    <p:extLst>
      <p:ext uri="{BB962C8B-B14F-4D97-AF65-F5344CB8AC3E}">
        <p14:creationId xmlns:p14="http://schemas.microsoft.com/office/powerpoint/2010/main" val="149924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A3D4E3E-FA50-0940-A0AA-21F7C5BE885C}" type="datetime1">
              <a:rPr lang="fr-FR" smtClean="0"/>
              <a:t>05/10/2026</a:t>
            </a:fld>
            <a:endParaRPr lang="fr-BJ"/>
          </a:p>
        </p:txBody>
      </p:sp>
      <p:sp>
        <p:nvSpPr>
          <p:cNvPr id="5" name="Footer Placeholder 4"/>
          <p:cNvSpPr>
            <a:spLocks noGrp="1"/>
          </p:cNvSpPr>
          <p:nvPr>
            <p:ph type="ftr" sz="quarter" idx="11"/>
          </p:nvPr>
        </p:nvSpPr>
        <p:spPr/>
        <p:txBody>
          <a:bodyPr/>
          <a:lstStyle/>
          <a:p>
            <a:endParaRPr lang="fr-BJ"/>
          </a:p>
        </p:txBody>
      </p:sp>
      <p:sp>
        <p:nvSpPr>
          <p:cNvPr id="6" name="Slide Number Placeholder 5"/>
          <p:cNvSpPr>
            <a:spLocks noGrp="1"/>
          </p:cNvSpPr>
          <p:nvPr>
            <p:ph type="sldNum" sz="quarter" idx="12"/>
          </p:nvPr>
        </p:nvSpPr>
        <p:spPr/>
        <p:txBody>
          <a:bodyPr/>
          <a:lstStyle/>
          <a:p>
            <a:fld id="{39EF7B87-54F1-4742-8D6A-0D0336FE60E1}" type="slidenum">
              <a:rPr lang="fr-BJ" smtClean="0"/>
              <a:t>‹N°›</a:t>
            </a:fld>
            <a:endParaRPr lang="fr-BJ"/>
          </a:p>
        </p:txBody>
      </p:sp>
    </p:spTree>
    <p:extLst>
      <p:ext uri="{BB962C8B-B14F-4D97-AF65-F5344CB8AC3E}">
        <p14:creationId xmlns:p14="http://schemas.microsoft.com/office/powerpoint/2010/main" val="980903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8BC6B20-CC0E-BD4C-B6F4-A173D9000BAE}" type="datetime1">
              <a:rPr lang="fr-FR" smtClean="0"/>
              <a:t>05/10/2026</a:t>
            </a:fld>
            <a:endParaRPr lang="fr-BJ"/>
          </a:p>
        </p:txBody>
      </p:sp>
      <p:sp>
        <p:nvSpPr>
          <p:cNvPr id="5" name="Footer Placeholder 4"/>
          <p:cNvSpPr>
            <a:spLocks noGrp="1"/>
          </p:cNvSpPr>
          <p:nvPr>
            <p:ph type="ftr" sz="quarter" idx="11"/>
          </p:nvPr>
        </p:nvSpPr>
        <p:spPr/>
        <p:txBody>
          <a:bodyPr/>
          <a:lstStyle/>
          <a:p>
            <a:endParaRPr lang="fr-BJ"/>
          </a:p>
        </p:txBody>
      </p:sp>
      <p:sp>
        <p:nvSpPr>
          <p:cNvPr id="6" name="Slide Number Placeholder 5"/>
          <p:cNvSpPr>
            <a:spLocks noGrp="1"/>
          </p:cNvSpPr>
          <p:nvPr>
            <p:ph type="sldNum" sz="quarter" idx="12"/>
          </p:nvPr>
        </p:nvSpPr>
        <p:spPr/>
        <p:txBody>
          <a:bodyPr/>
          <a:lstStyle/>
          <a:p>
            <a:fld id="{39EF7B87-54F1-4742-8D6A-0D0336FE60E1}" type="slidenum">
              <a:rPr lang="fr-BJ" smtClean="0"/>
              <a:t>‹N°›</a:t>
            </a:fld>
            <a:endParaRPr lang="fr-BJ"/>
          </a:p>
        </p:txBody>
      </p:sp>
    </p:spTree>
    <p:extLst>
      <p:ext uri="{BB962C8B-B14F-4D97-AF65-F5344CB8AC3E}">
        <p14:creationId xmlns:p14="http://schemas.microsoft.com/office/powerpoint/2010/main" val="2989005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65C3DE-E25A-E748-BCA5-7E3E19040D77}" type="datetime1">
              <a:rPr lang="fr-FR" smtClean="0"/>
              <a:t>05/10/2026</a:t>
            </a:fld>
            <a:endParaRPr lang="fr-BJ"/>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BJ"/>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9EF7B87-54F1-4742-8D6A-0D0336FE60E1}" type="slidenum">
              <a:rPr lang="fr-BJ" smtClean="0"/>
              <a:t>‹N°›</a:t>
            </a:fld>
            <a:endParaRPr lang="fr-BJ"/>
          </a:p>
        </p:txBody>
      </p:sp>
    </p:spTree>
    <p:extLst>
      <p:ext uri="{BB962C8B-B14F-4D97-AF65-F5344CB8AC3E}">
        <p14:creationId xmlns:p14="http://schemas.microsoft.com/office/powerpoint/2010/main" val="28050142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 coins arrondis 3"/>
          <p:cNvSpPr/>
          <p:nvPr/>
        </p:nvSpPr>
        <p:spPr>
          <a:xfrm>
            <a:off x="613520" y="2550449"/>
            <a:ext cx="7916960" cy="1757102"/>
          </a:xfrm>
          <a:prstGeom prst="roundRect">
            <a:avLst/>
          </a:prstGeom>
          <a:solidFill>
            <a:schemeClr val="accent1"/>
          </a:solidFill>
          <a:ln>
            <a:solidFill>
              <a:schemeClr val="bg1">
                <a:lumMod val="85000"/>
              </a:schemeClr>
            </a:solidFill>
          </a:ln>
          <a:effectLst>
            <a:outerShdw blurRad="50800" dist="38100" dir="2700000" algn="tl" rotWithShape="0">
              <a:prstClr val="black">
                <a:alpha val="40000"/>
              </a:prstClr>
            </a:outerShdw>
          </a:effectLst>
          <a:scene3d>
            <a:camera prst="orthographicFront"/>
            <a:lightRig rig="freezing" dir="t"/>
          </a:scene3d>
          <a:sp3d prstMaterial="softEdge">
            <a:bevelT w="114300" prst="artDeco"/>
          </a:sp3d>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r>
              <a:rPr lang="fr-FR" noProof="0" dirty="0">
                <a:latin typeface="Times New Roman" panose="02020603050405020304" pitchFamily="18" charset="0"/>
                <a:cs typeface="Times New Roman" panose="02020603050405020304" pitchFamily="18" charset="0"/>
              </a:rPr>
              <a:t>MORPHOLOGIE ÉRYTHROCYTAIRE (PARTIE 5) : DIAGNOSTIC PARASITOLOGIQUE DU PALUDISME</a:t>
            </a:r>
          </a:p>
        </p:txBody>
      </p:sp>
      <p:sp>
        <p:nvSpPr>
          <p:cNvPr id="6" name="ZoneTexte 5"/>
          <p:cNvSpPr txBox="1"/>
          <p:nvPr/>
        </p:nvSpPr>
        <p:spPr>
          <a:xfrm>
            <a:off x="613520" y="4702909"/>
            <a:ext cx="7916960" cy="1250000"/>
          </a:xfrm>
          <a:prstGeom prst="rect">
            <a:avLst/>
          </a:prstGeom>
          <a:noFill/>
        </p:spPr>
        <p:txBody>
          <a:bodyPr wrap="square" lIns="0" tIns="0" rIns="0" bIns="0" rtlCol="0" anchor="ctr"/>
          <a:lstStyle/>
          <a:p>
            <a:pPr algn="ctr"/>
            <a:r>
              <a:rPr lang="fr-FR" noProof="0" dirty="0">
                <a:latin typeface="Times New Roman" panose="02020603050405020304" pitchFamily="18" charset="0"/>
                <a:cs typeface="Times New Roman" panose="02020603050405020304" pitchFamily="18" charset="0"/>
              </a:rPr>
              <a:t>Présenté par :</a:t>
            </a:r>
          </a:p>
          <a:p>
            <a:pPr algn="ctr"/>
            <a:r>
              <a:rPr lang="fr-FR" noProof="0" dirty="0">
                <a:latin typeface="Times New Roman" panose="02020603050405020304" pitchFamily="18" charset="0"/>
                <a:cs typeface="Times New Roman" panose="02020603050405020304" pitchFamily="18" charset="0"/>
              </a:rPr>
              <a:t>SINGBO Tchedrac</a:t>
            </a:r>
          </a:p>
          <a:p>
            <a:pPr algn="ctr"/>
            <a:r>
              <a:rPr lang="fr-FR" noProof="0" dirty="0">
                <a:latin typeface="Times New Roman" panose="02020603050405020304" pitchFamily="18" charset="0"/>
                <a:cs typeface="Times New Roman" panose="02020603050405020304" pitchFamily="18" charset="0"/>
              </a:rPr>
              <a:t>IAS/BM – CHU-MEL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noProof="0" dirty="0">
                <a:latin typeface="Times New Roman" panose="02020603050405020304" pitchFamily="18" charset="0"/>
                <a:cs typeface="Times New Roman" panose="02020603050405020304" pitchFamily="18" charset="0"/>
              </a:rPr>
              <a:t>PLAN</a:t>
            </a:r>
          </a:p>
        </p:txBody>
      </p:sp>
      <p:sp>
        <p:nvSpPr>
          <p:cNvPr id="3" name="Espace réservé du contenu 2"/>
          <p:cNvSpPr>
            <a:spLocks noGrp="1"/>
          </p:cNvSpPr>
          <p:nvPr>
            <p:ph idx="1"/>
          </p:nvPr>
        </p:nvSpPr>
        <p:spPr>
          <a:xfrm>
            <a:off x="628650" y="1590098"/>
            <a:ext cx="7886700" cy="4351338"/>
          </a:xfrm>
        </p:spPr>
        <p:txBody>
          <a:bodyPr wrap="square" lIns="0" tIns="0" rIns="0" bIns="0">
            <a:normAutofit fontScale="92500" lnSpcReduction="20000"/>
          </a:bodyPr>
          <a:lstStyle/>
          <a:p>
            <a:pPr marL="0" indent="0">
              <a:lnSpc>
                <a:spcPct val="110000"/>
              </a:lnSpc>
              <a:buNone/>
            </a:pPr>
            <a:r>
              <a:rPr lang="fr-FR" noProof="0" dirty="0">
                <a:latin typeface="Times New Roman" panose="02020603050405020304" pitchFamily="18" charset="0"/>
                <a:cs typeface="Times New Roman" panose="02020603050405020304" pitchFamily="18" charset="0"/>
              </a:rPr>
              <a:t>Introduction</a:t>
            </a:r>
          </a:p>
          <a:p>
            <a:pPr>
              <a:lnSpc>
                <a:spcPct val="110000"/>
              </a:lnSpc>
            </a:pPr>
            <a:r>
              <a:rPr lang="fr-FR" noProof="0" dirty="0">
                <a:latin typeface="Times New Roman" panose="02020603050405020304" pitchFamily="18" charset="0"/>
                <a:cs typeface="Times New Roman" panose="02020603050405020304" pitchFamily="18" charset="0"/>
              </a:rPr>
              <a:t>1. Goutte épaisse</a:t>
            </a:r>
          </a:p>
          <a:p>
            <a:pPr>
              <a:lnSpc>
                <a:spcPct val="110000"/>
              </a:lnSpc>
            </a:pPr>
            <a:r>
              <a:rPr lang="fr-FR" noProof="0" dirty="0">
                <a:latin typeface="Times New Roman" panose="02020603050405020304" pitchFamily="18" charset="0"/>
                <a:cs typeface="Times New Roman" panose="02020603050405020304" pitchFamily="18" charset="0"/>
              </a:rPr>
              <a:t>2. Frottis sanguin</a:t>
            </a:r>
          </a:p>
          <a:p>
            <a:pPr>
              <a:lnSpc>
                <a:spcPct val="110000"/>
              </a:lnSpc>
            </a:pPr>
            <a:r>
              <a:rPr lang="fr-FR" noProof="0" dirty="0">
                <a:latin typeface="Times New Roman" panose="02020603050405020304" pitchFamily="18" charset="0"/>
                <a:cs typeface="Times New Roman" panose="02020603050405020304" pitchFamily="18" charset="0"/>
              </a:rPr>
              <a:t>3. </a:t>
            </a:r>
            <a:r>
              <a:rPr lang="fr-FR" i="1" noProof="0" dirty="0">
                <a:latin typeface="Times New Roman" panose="02020603050405020304" pitchFamily="18" charset="0"/>
                <a:cs typeface="Times New Roman" panose="02020603050405020304" pitchFamily="18" charset="0"/>
              </a:rPr>
              <a:t>Plasmodium falciparum</a:t>
            </a:r>
          </a:p>
          <a:p>
            <a:pPr>
              <a:lnSpc>
                <a:spcPct val="110000"/>
              </a:lnSpc>
            </a:pPr>
            <a:r>
              <a:rPr lang="fr-FR" noProof="0" dirty="0">
                <a:latin typeface="Times New Roman" panose="02020603050405020304" pitchFamily="18" charset="0"/>
                <a:cs typeface="Times New Roman" panose="02020603050405020304" pitchFamily="18" charset="0"/>
              </a:rPr>
              <a:t>4. </a:t>
            </a:r>
            <a:r>
              <a:rPr lang="fr-FR" i="1" noProof="0" dirty="0">
                <a:latin typeface="Times New Roman" panose="02020603050405020304" pitchFamily="18" charset="0"/>
                <a:cs typeface="Times New Roman" panose="02020603050405020304" pitchFamily="18" charset="0"/>
              </a:rPr>
              <a:t>Plasmodium malariae</a:t>
            </a:r>
          </a:p>
          <a:p>
            <a:pPr>
              <a:lnSpc>
                <a:spcPct val="110000"/>
              </a:lnSpc>
            </a:pPr>
            <a:r>
              <a:rPr lang="fr-FR" noProof="0" dirty="0">
                <a:latin typeface="Times New Roman" panose="02020603050405020304" pitchFamily="18" charset="0"/>
                <a:cs typeface="Times New Roman" panose="02020603050405020304" pitchFamily="18" charset="0"/>
              </a:rPr>
              <a:t>5. </a:t>
            </a:r>
            <a:r>
              <a:rPr lang="fr-FR" i="1" noProof="0" dirty="0">
                <a:latin typeface="Times New Roman" panose="02020603050405020304" pitchFamily="18" charset="0"/>
                <a:cs typeface="Times New Roman" panose="02020603050405020304" pitchFamily="18" charset="0"/>
              </a:rPr>
              <a:t>Plasmodium ovale</a:t>
            </a:r>
          </a:p>
          <a:p>
            <a:pPr>
              <a:lnSpc>
                <a:spcPct val="110000"/>
              </a:lnSpc>
            </a:pPr>
            <a:r>
              <a:rPr lang="fr-FR" noProof="0" dirty="0">
                <a:latin typeface="Times New Roman" panose="02020603050405020304" pitchFamily="18" charset="0"/>
                <a:cs typeface="Times New Roman" panose="02020603050405020304" pitchFamily="18" charset="0"/>
              </a:rPr>
              <a:t>6. </a:t>
            </a:r>
            <a:r>
              <a:rPr lang="fr-FR" i="1" noProof="0" dirty="0">
                <a:latin typeface="Times New Roman" panose="02020603050405020304" pitchFamily="18" charset="0"/>
                <a:cs typeface="Times New Roman" panose="02020603050405020304" pitchFamily="18" charset="0"/>
              </a:rPr>
              <a:t>Plasmodium vivax</a:t>
            </a:r>
          </a:p>
          <a:p>
            <a:pPr>
              <a:lnSpc>
                <a:spcPct val="110000"/>
              </a:lnSpc>
            </a:pPr>
            <a:r>
              <a:rPr lang="fr-FR" dirty="0">
                <a:latin typeface="Times New Roman" panose="02020603050405020304" pitchFamily="18" charset="0"/>
                <a:cs typeface="Times New Roman" panose="02020603050405020304" pitchFamily="18" charset="0"/>
              </a:rPr>
              <a:t>7. </a:t>
            </a:r>
            <a:r>
              <a:rPr lang="fr-FR" noProof="0" dirty="0">
                <a:latin typeface="Times New Roman" panose="02020603050405020304" pitchFamily="18" charset="0"/>
                <a:cs typeface="Times New Roman" panose="02020603050405020304" pitchFamily="18" charset="0"/>
              </a:rPr>
              <a:t>Récapitulatif</a:t>
            </a:r>
          </a:p>
          <a:p>
            <a:pPr marL="0" indent="0">
              <a:lnSpc>
                <a:spcPct val="110000"/>
              </a:lnSpc>
              <a:buNone/>
            </a:pPr>
            <a:r>
              <a:rPr lang="fr-FR" noProof="0" dirty="0">
                <a:latin typeface="Times New Roman" panose="02020603050405020304" pitchFamily="18" charset="0"/>
                <a:cs typeface="Times New Roman" panose="02020603050405020304" pitchFamily="18" charset="0"/>
              </a:rPr>
              <a:t>Conclusion</a:t>
            </a:r>
          </a:p>
        </p:txBody>
      </p:sp>
      <p:sp>
        <p:nvSpPr>
          <p:cNvPr id="4" name="Espace réservé du numéro de diapositive 3"/>
          <p:cNvSpPr>
            <a:spLocks noGrp="1"/>
          </p:cNvSpPr>
          <p:nvPr>
            <p:ph type="sldNum" sz="quarter" idx="12"/>
          </p:nvPr>
        </p:nvSpPr>
        <p:spPr/>
        <p:txBody>
          <a:bodyPr/>
          <a:lstStyle/>
          <a:p>
            <a:r>
              <a:rPr lang="fr-FR" sz="1200" noProof="0" dirty="0"/>
              <a:t>2</a:t>
            </a:r>
            <a:endParaRPr lang="fr-FR"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wrap="square" lIns="0" tIns="0" rIns="0" bIns="0"/>
          <a:lstStyle/>
          <a:p>
            <a:pPr algn="ctr">
              <a:spcAft>
                <a:spcPts val="400"/>
              </a:spcAft>
              <a:defRPr sz="3000"/>
            </a:pPr>
            <a:r>
              <a:rPr lang="fr-FR" noProof="0" dirty="0">
                <a:latin typeface="Times New Roman" panose="02020603050405020304" pitchFamily="18" charset="0"/>
                <a:cs typeface="Times New Roman" panose="02020603050405020304" pitchFamily="18" charset="0"/>
              </a:rPr>
              <a:t>INTRODUCTION</a:t>
            </a:r>
          </a:p>
        </p:txBody>
      </p:sp>
      <p:sp>
        <p:nvSpPr>
          <p:cNvPr id="3" name="Espace réservé du contenu 2"/>
          <p:cNvSpPr>
            <a:spLocks noGrp="1"/>
          </p:cNvSpPr>
          <p:nvPr>
            <p:ph idx="1"/>
          </p:nvPr>
        </p:nvSpPr>
        <p:spPr>
          <a:xfrm>
            <a:off x="628650" y="2190750"/>
            <a:ext cx="7886700" cy="2566266"/>
          </a:xfrm>
        </p:spPr>
        <p:txBody>
          <a:bodyPr wrap="square" lIns="0" tIns="0" rIns="0" bIns="0">
            <a:normAutofit/>
          </a:bodyPr>
          <a:lstStyle/>
          <a:p>
            <a:pPr marL="0" indent="0">
              <a:buNone/>
            </a:pPr>
            <a:r>
              <a:rPr lang="fr-FR" sz="2500" noProof="0" dirty="0">
                <a:latin typeface="Times New Roman" panose="02020603050405020304" pitchFamily="18" charset="0"/>
                <a:cs typeface="Times New Roman" panose="02020603050405020304" pitchFamily="18" charset="0"/>
              </a:rPr>
              <a:t>L’étude morphologique constitue une étape essentielle du diagnostic parasitologique du paludisme.</a:t>
            </a:r>
          </a:p>
          <a:p>
            <a:pPr marL="0" indent="0">
              <a:buNone/>
            </a:pPr>
            <a:endParaRPr lang="fr-FR" sz="2500" noProof="0" dirty="0">
              <a:latin typeface="Times New Roman" panose="02020603050405020304" pitchFamily="18" charset="0"/>
              <a:cs typeface="Times New Roman" panose="02020603050405020304" pitchFamily="18" charset="0"/>
            </a:endParaRPr>
          </a:p>
          <a:p>
            <a:pPr marL="0" indent="0">
              <a:buNone/>
            </a:pPr>
            <a:r>
              <a:rPr lang="fr-FR" sz="2500" dirty="0">
                <a:latin typeface="Times New Roman" panose="02020603050405020304" pitchFamily="18" charset="0"/>
                <a:cs typeface="Times New Roman" panose="02020603050405020304" pitchFamily="18" charset="0"/>
              </a:rPr>
              <a:t>Le diagnostic parasitologique repose sur l’examen microscopique du sang, à travers la goutte épaisse et le frottis sanguin.</a:t>
            </a:r>
            <a:endParaRPr lang="fr-FR" sz="2500" noProof="0" dirty="0">
              <a:latin typeface="Times New Roman" panose="02020603050405020304" pitchFamily="18" charset="0"/>
              <a:cs typeface="Times New Roman" panose="02020603050405020304" pitchFamily="18" charset="0"/>
            </a:endParaRPr>
          </a:p>
        </p:txBody>
      </p:sp>
      <p:sp>
        <p:nvSpPr>
          <p:cNvPr id="4" name="Espace réservé du numéro de diapositive 3"/>
          <p:cNvSpPr>
            <a:spLocks noGrp="1"/>
          </p:cNvSpPr>
          <p:nvPr>
            <p:ph type="sldNum" sz="quarter" idx="12"/>
          </p:nvPr>
        </p:nvSpPr>
        <p:spPr/>
        <p:txBody>
          <a:bodyPr/>
          <a:lstStyle/>
          <a:p>
            <a:r>
              <a:rPr lang="fr-FR" sz="1200" noProof="0" dirty="0"/>
              <a:t>3</a:t>
            </a:r>
            <a:endParaRPr lang="fr-FR"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lIns="0" tIns="0" rIns="0" bIns="0"/>
          <a:lstStyle/>
          <a:p>
            <a:pPr algn="ctr">
              <a:spcAft>
                <a:spcPts val="400"/>
              </a:spcAft>
              <a:defRPr sz="3000"/>
            </a:pPr>
            <a:r>
              <a:rPr lang="fr-FR" noProof="0" dirty="0">
                <a:latin typeface="Times New Roman" panose="02020603050405020304" pitchFamily="18" charset="0"/>
                <a:cs typeface="Times New Roman" panose="02020603050405020304" pitchFamily="18" charset="0"/>
              </a:rPr>
              <a:t>1. GOUTTE ÉPAISSE</a:t>
            </a:r>
          </a:p>
        </p:txBody>
      </p:sp>
      <p:pic>
        <p:nvPicPr>
          <p:cNvPr id="4" name="Picture 3" descr="image.jpg"/>
          <p:cNvPicPr>
            <a:picLocks noChangeAspect="1"/>
          </p:cNvPicPr>
          <p:nvPr/>
        </p:nvPicPr>
        <p:blipFill>
          <a:blip r:embed="rId3"/>
          <a:stretch>
            <a:fillRect/>
          </a:stretch>
        </p:blipFill>
        <p:spPr>
          <a:xfrm>
            <a:off x="347469" y="2199427"/>
            <a:ext cx="3114779" cy="2707328"/>
          </a:xfrm>
          <a:prstGeom prst="rect">
            <a:avLst/>
          </a:prstGeom>
        </p:spPr>
      </p:pic>
      <p:sp>
        <p:nvSpPr>
          <p:cNvPr id="5" name="TextBox 4"/>
          <p:cNvSpPr txBox="1"/>
          <p:nvPr/>
        </p:nvSpPr>
        <p:spPr>
          <a:xfrm>
            <a:off x="126350" y="5117717"/>
            <a:ext cx="3557016" cy="1138773"/>
          </a:xfrm>
          <a:prstGeom prst="rect">
            <a:avLst/>
          </a:prstGeom>
          <a:noFill/>
        </p:spPr>
        <p:txBody>
          <a:bodyPr wrap="square">
            <a:spAutoFit/>
          </a:bodyPr>
          <a:lstStyle/>
          <a:p>
            <a:r>
              <a:rPr lang="fr-FR" b="1" noProof="0" dirty="0">
                <a:latin typeface="Times New Roman" panose="02020603050405020304" pitchFamily="18" charset="0"/>
                <a:cs typeface="Times New Roman" panose="02020603050405020304" pitchFamily="18" charset="0"/>
              </a:rPr>
              <a:t>Fig. </a:t>
            </a:r>
            <a:r>
              <a:rPr lang="fr-FR" b="1" dirty="0">
                <a:latin typeface="Times New Roman" panose="02020603050405020304" pitchFamily="18" charset="0"/>
                <a:cs typeface="Times New Roman" panose="02020603050405020304" pitchFamily="18" charset="0"/>
              </a:rPr>
              <a:t>1</a:t>
            </a:r>
            <a:r>
              <a:rPr lang="fr-FR" b="1" noProof="0" dirty="0">
                <a:latin typeface="Times New Roman" panose="02020603050405020304" pitchFamily="18" charset="0"/>
                <a:cs typeface="Times New Roman" panose="02020603050405020304" pitchFamily="18" charset="0"/>
              </a:rPr>
              <a:t>: </a:t>
            </a:r>
            <a:r>
              <a:rPr lang="fr-FR" noProof="0" dirty="0">
                <a:latin typeface="Times New Roman" panose="02020603050405020304" pitchFamily="18" charset="0"/>
                <a:cs typeface="Times New Roman" panose="02020603050405020304" pitchFamily="18" charset="0"/>
              </a:rPr>
              <a:t>Goutte épaisse</a:t>
            </a:r>
            <a:r>
              <a:rPr lang="fr-FR" dirty="0">
                <a:latin typeface="Times New Roman" panose="02020603050405020304" pitchFamily="18" charset="0"/>
                <a:cs typeface="Times New Roman" panose="02020603050405020304" pitchFamily="18" charset="0"/>
              </a:rPr>
              <a:t>,</a:t>
            </a:r>
            <a:r>
              <a:rPr lang="fr-FR" noProof="0" dirty="0">
                <a:latin typeface="Times New Roman" panose="02020603050405020304" pitchFamily="18" charset="0"/>
                <a:cs typeface="Times New Roman" panose="02020603050405020304" pitchFamily="18" charset="0"/>
              </a:rPr>
              <a:t> présence de  parasite</a:t>
            </a:r>
          </a:p>
          <a:p>
            <a:r>
              <a:rPr lang="fr-FR" sz="1400" b="1" dirty="0">
                <a:latin typeface="Times New Roman" panose="02020603050405020304" pitchFamily="18" charset="0"/>
                <a:cs typeface="Times New Roman" panose="02020603050405020304" pitchFamily="18" charset="0"/>
              </a:rPr>
              <a:t>Source </a:t>
            </a:r>
            <a:r>
              <a:rPr lang="fr-FR" sz="1400" dirty="0">
                <a:latin typeface="Times New Roman" panose="02020603050405020304" pitchFamily="18" charset="0"/>
                <a:cs typeface="Times New Roman" panose="02020603050405020304" pitchFamily="18" charset="0"/>
              </a:rPr>
              <a:t>: OMS, Basic Malaria Microscopy</a:t>
            </a:r>
            <a:r>
              <a:rPr lang="fr-FR" dirty="0">
                <a:latin typeface="Times New Roman" panose="02020603050405020304" pitchFamily="18" charset="0"/>
                <a:cs typeface="Times New Roman" panose="02020603050405020304" pitchFamily="18" charset="0"/>
              </a:rPr>
              <a:t>, </a:t>
            </a:r>
            <a:r>
              <a:rPr lang="fr-FR" sz="1400" dirty="0">
                <a:latin typeface="Times New Roman" panose="02020603050405020304" pitchFamily="18" charset="0"/>
                <a:cs typeface="Times New Roman" panose="02020603050405020304" pitchFamily="18" charset="0"/>
              </a:rPr>
              <a:t>2e éd.</a:t>
            </a:r>
            <a:endParaRPr lang="fr-FR" sz="1400" noProof="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6455664" y="6355080"/>
            <a:ext cx="2057400" cy="365760"/>
          </a:xfrm>
          <a:prstGeom prst="rect">
            <a:avLst/>
          </a:prstGeom>
          <a:noFill/>
        </p:spPr>
        <p:txBody>
          <a:bodyPr wrap="square" lIns="0" tIns="0" rIns="0" bIns="0">
            <a:spAutoFit/>
          </a:bodyPr>
          <a:lstStyle/>
          <a:p>
            <a:pPr>
              <a:spcAft>
                <a:spcPts val="400"/>
              </a:spcAft>
              <a:defRPr sz="1200"/>
            </a:pPr>
            <a:r>
              <a:rPr lang="fr-FR" sz="1200" noProof="0" dirty="0"/>
              <a:t>4</a:t>
            </a:r>
          </a:p>
        </p:txBody>
      </p:sp>
      <p:sp>
        <p:nvSpPr>
          <p:cNvPr id="8" name="TextBox 4">
            <a:extLst>
              <a:ext uri="{FF2B5EF4-FFF2-40B4-BE49-F238E27FC236}">
                <a16:creationId xmlns:a16="http://schemas.microsoft.com/office/drawing/2014/main" id="{FC6E7279-7C4C-A4B3-8EED-09BCEFFFD2C5}"/>
              </a:ext>
            </a:extLst>
          </p:cNvPr>
          <p:cNvSpPr txBox="1"/>
          <p:nvPr/>
        </p:nvSpPr>
        <p:spPr>
          <a:xfrm>
            <a:off x="347471" y="1420950"/>
            <a:ext cx="8367037" cy="458074"/>
          </a:xfrm>
          <a:prstGeom prst="rect">
            <a:avLst/>
          </a:prstGeom>
          <a:noFill/>
        </p:spPr>
        <p:txBody>
          <a:bodyPr wrap="square">
            <a:spAutoFit/>
          </a:bodyPr>
          <a:lstStyle/>
          <a:p>
            <a:pPr algn="just">
              <a:lnSpc>
                <a:spcPct val="150000"/>
              </a:lnSpc>
            </a:pPr>
            <a:r>
              <a:rPr lang="fr-FR" dirty="0">
                <a:latin typeface="Times New Roman" panose="02020603050405020304" pitchFamily="18" charset="0"/>
                <a:cs typeface="Times New Roman" panose="02020603050405020304" pitchFamily="18" charset="0"/>
              </a:rPr>
              <a:t>Technique de concentration permettant de rechercher Plasmodium dans le sang.</a:t>
            </a:r>
          </a:p>
        </p:txBody>
      </p:sp>
      <p:sp>
        <p:nvSpPr>
          <p:cNvPr id="10" name="TextBox 4">
            <a:extLst>
              <a:ext uri="{FF2B5EF4-FFF2-40B4-BE49-F238E27FC236}">
                <a16:creationId xmlns:a16="http://schemas.microsoft.com/office/drawing/2014/main" id="{04557CC9-4556-F7CB-82A9-7B00AC49104B}"/>
              </a:ext>
            </a:extLst>
          </p:cNvPr>
          <p:cNvSpPr txBox="1"/>
          <p:nvPr/>
        </p:nvSpPr>
        <p:spPr>
          <a:xfrm>
            <a:off x="3488578" y="3194313"/>
            <a:ext cx="5529071" cy="873572"/>
          </a:xfrm>
          <a:prstGeom prst="rect">
            <a:avLst/>
          </a:prstGeom>
          <a:noFill/>
        </p:spPr>
        <p:txBody>
          <a:bodyPr wrap="square">
            <a:spAutoFit/>
          </a:bodyPr>
          <a:lstStyle/>
          <a:p>
            <a:pPr algn="just">
              <a:lnSpc>
                <a:spcPct val="150000"/>
              </a:lnSpc>
            </a:pPr>
            <a:r>
              <a:rPr lang="fr-FR" dirty="0">
                <a:latin typeface="Times New Roman" panose="02020603050405020304" pitchFamily="18" charset="0"/>
                <a:cs typeface="Times New Roman" panose="02020603050405020304" pitchFamily="18" charset="0"/>
              </a:rPr>
              <a:t>Positive : présence de formes parasitaires de </a:t>
            </a:r>
            <a:r>
              <a:rPr lang="fr-FR" i="1" dirty="0">
                <a:latin typeface="Times New Roman" panose="02020603050405020304" pitchFamily="18" charset="0"/>
                <a:cs typeface="Times New Roman" panose="02020603050405020304" pitchFamily="18" charset="0"/>
              </a:rPr>
              <a:t>Plasmodium</a:t>
            </a:r>
            <a:r>
              <a:rPr lang="fr-FR" dirty="0">
                <a:latin typeface="Times New Roman" panose="02020603050405020304" pitchFamily="18" charset="0"/>
                <a:cs typeface="Times New Roman" panose="02020603050405020304" pitchFamily="18" charset="0"/>
              </a:rPr>
              <a:t> observées au microscope.  </a:t>
            </a:r>
          </a:p>
        </p:txBody>
      </p:sp>
      <p:sp>
        <p:nvSpPr>
          <p:cNvPr id="12" name="TextBox 4">
            <a:extLst>
              <a:ext uri="{FF2B5EF4-FFF2-40B4-BE49-F238E27FC236}">
                <a16:creationId xmlns:a16="http://schemas.microsoft.com/office/drawing/2014/main" id="{5C327473-309A-115A-FD7C-57055441D2D0}"/>
              </a:ext>
            </a:extLst>
          </p:cNvPr>
          <p:cNvSpPr txBox="1"/>
          <p:nvPr/>
        </p:nvSpPr>
        <p:spPr>
          <a:xfrm>
            <a:off x="3462246" y="2043568"/>
            <a:ext cx="5529071" cy="873572"/>
          </a:xfrm>
          <a:prstGeom prst="rect">
            <a:avLst/>
          </a:prstGeom>
          <a:noFill/>
        </p:spPr>
        <p:txBody>
          <a:bodyPr wrap="square">
            <a:spAutoFit/>
          </a:bodyPr>
          <a:lstStyle/>
          <a:p>
            <a:pPr algn="just">
              <a:lnSpc>
                <a:spcPct val="150000"/>
              </a:lnSpc>
            </a:pPr>
            <a:r>
              <a:rPr lang="fr-FR" dirty="0">
                <a:latin typeface="Times New Roman" panose="02020603050405020304" pitchFamily="18" charset="0"/>
                <a:cs typeface="Times New Roman" panose="02020603050405020304" pitchFamily="18" charset="0"/>
              </a:rPr>
              <a:t>Négative : absence de trophozoïtes après lecture d’au moins 500 leucocytes, selon le protocole de lecture.     </a:t>
            </a:r>
          </a:p>
        </p:txBody>
      </p:sp>
      <p:sp>
        <p:nvSpPr>
          <p:cNvPr id="16" name="TextBox 4">
            <a:extLst>
              <a:ext uri="{FF2B5EF4-FFF2-40B4-BE49-F238E27FC236}">
                <a16:creationId xmlns:a16="http://schemas.microsoft.com/office/drawing/2014/main" id="{AC3026F5-2FA1-DF3A-86BC-DC22E9D5EE8A}"/>
              </a:ext>
            </a:extLst>
          </p:cNvPr>
          <p:cNvSpPr txBox="1"/>
          <p:nvPr/>
        </p:nvSpPr>
        <p:spPr>
          <a:xfrm>
            <a:off x="3462247" y="4278847"/>
            <a:ext cx="5529071" cy="873572"/>
          </a:xfrm>
          <a:prstGeom prst="rect">
            <a:avLst/>
          </a:prstGeom>
          <a:noFill/>
        </p:spPr>
        <p:txBody>
          <a:bodyPr wrap="square">
            <a:spAutoFit/>
          </a:bodyPr>
          <a:lstStyle/>
          <a:p>
            <a:pPr algn="just">
              <a:lnSpc>
                <a:spcPct val="150000"/>
              </a:lnSpc>
            </a:pPr>
            <a:r>
              <a:rPr lang="fr-FR" dirty="0">
                <a:latin typeface="Times New Roman" panose="02020603050405020304" pitchFamily="18" charset="0"/>
                <a:cs typeface="Times New Roman" panose="02020603050405020304" pitchFamily="18" charset="0"/>
              </a:rPr>
              <a:t>Si positive → frottis sanguin pour l’identification de l’espèce.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lIns="0" tIns="0" rIns="0" bIns="0"/>
          <a:lstStyle/>
          <a:p>
            <a:pPr algn="ctr">
              <a:spcAft>
                <a:spcPts val="400"/>
              </a:spcAft>
              <a:defRPr sz="3000"/>
            </a:pPr>
            <a:r>
              <a:rPr lang="fr-FR" noProof="0" dirty="0">
                <a:latin typeface="Times New Roman" panose="02020603050405020304" pitchFamily="18" charset="0"/>
                <a:cs typeface="Times New Roman" panose="02020603050405020304" pitchFamily="18" charset="0"/>
              </a:rPr>
              <a:t>2. FROTTIS SANGUIN</a:t>
            </a:r>
          </a:p>
        </p:txBody>
      </p:sp>
      <p:pic>
        <p:nvPicPr>
          <p:cNvPr id="4" name="Picture 3" descr="image.jpg"/>
          <p:cNvPicPr>
            <a:picLocks noChangeAspect="1"/>
          </p:cNvPicPr>
          <p:nvPr/>
        </p:nvPicPr>
        <p:blipFill>
          <a:blip r:embed="rId3"/>
          <a:stretch>
            <a:fillRect/>
          </a:stretch>
        </p:blipFill>
        <p:spPr>
          <a:xfrm>
            <a:off x="265176" y="2440934"/>
            <a:ext cx="3547872" cy="2246986"/>
          </a:xfrm>
          <a:prstGeom prst="rect">
            <a:avLst/>
          </a:prstGeom>
        </p:spPr>
      </p:pic>
      <p:sp>
        <p:nvSpPr>
          <p:cNvPr id="5" name="TextBox 4"/>
          <p:cNvSpPr txBox="1"/>
          <p:nvPr/>
        </p:nvSpPr>
        <p:spPr>
          <a:xfrm>
            <a:off x="210312" y="4937760"/>
            <a:ext cx="3557016" cy="1077218"/>
          </a:xfrm>
          <a:prstGeom prst="rect">
            <a:avLst/>
          </a:prstGeom>
          <a:noFill/>
        </p:spPr>
        <p:txBody>
          <a:bodyPr wrap="square">
            <a:spAutoFit/>
          </a:bodyPr>
          <a:lstStyle/>
          <a:p>
            <a:r>
              <a:rPr lang="fr-FR" b="1" noProof="0" dirty="0">
                <a:latin typeface="Times New Roman" panose="02020603050405020304" pitchFamily="18" charset="0"/>
                <a:cs typeface="Times New Roman" panose="02020603050405020304" pitchFamily="18" charset="0"/>
              </a:rPr>
              <a:t>Fig. 2: </a:t>
            </a:r>
            <a:r>
              <a:rPr lang="fr-FR" noProof="0" dirty="0">
                <a:latin typeface="Times New Roman" panose="02020603050405020304" pitchFamily="18" charset="0"/>
                <a:cs typeface="Times New Roman" panose="02020603050405020304" pitchFamily="18" charset="0"/>
              </a:rPr>
              <a:t>Frottis sanguin - étude morphologique</a:t>
            </a:r>
          </a:p>
          <a:p>
            <a:r>
              <a:rPr lang="fr-FR" sz="1400" b="1" dirty="0">
                <a:latin typeface="Times New Roman" panose="02020603050405020304" pitchFamily="18" charset="0"/>
                <a:cs typeface="Times New Roman" panose="02020603050405020304" pitchFamily="18" charset="0"/>
              </a:rPr>
              <a:t>Source : </a:t>
            </a:r>
            <a:r>
              <a:rPr lang="fr-FR" sz="1400" dirty="0">
                <a:latin typeface="Times New Roman" panose="02020603050405020304" pitchFamily="18" charset="0"/>
                <a:cs typeface="Times New Roman" panose="02020603050405020304" pitchFamily="18" charset="0"/>
              </a:rPr>
              <a:t>OMS, Basic Malaria Microscopy, 2e éd.</a:t>
            </a:r>
          </a:p>
        </p:txBody>
      </p:sp>
      <p:sp>
        <p:nvSpPr>
          <p:cNvPr id="6" name="TextBox 5"/>
          <p:cNvSpPr txBox="1"/>
          <p:nvPr/>
        </p:nvSpPr>
        <p:spPr>
          <a:xfrm>
            <a:off x="6455664" y="6355080"/>
            <a:ext cx="2057400" cy="365760"/>
          </a:xfrm>
          <a:prstGeom prst="rect">
            <a:avLst/>
          </a:prstGeom>
          <a:noFill/>
        </p:spPr>
        <p:txBody>
          <a:bodyPr wrap="square" lIns="0" tIns="0" rIns="0" bIns="0">
            <a:spAutoFit/>
          </a:bodyPr>
          <a:lstStyle/>
          <a:p>
            <a:pPr>
              <a:spcAft>
                <a:spcPts val="400"/>
              </a:spcAft>
              <a:defRPr sz="1200"/>
            </a:pPr>
            <a:r>
              <a:rPr lang="fr-FR" sz="1200" noProof="0" dirty="0"/>
              <a:t>5</a:t>
            </a:r>
          </a:p>
        </p:txBody>
      </p:sp>
      <p:sp>
        <p:nvSpPr>
          <p:cNvPr id="8" name="TextBox 4">
            <a:extLst>
              <a:ext uri="{FF2B5EF4-FFF2-40B4-BE49-F238E27FC236}">
                <a16:creationId xmlns:a16="http://schemas.microsoft.com/office/drawing/2014/main" id="{1660F50D-E629-F12D-F37F-F22F7A0844A1}"/>
              </a:ext>
            </a:extLst>
          </p:cNvPr>
          <p:cNvSpPr txBox="1"/>
          <p:nvPr/>
        </p:nvSpPr>
        <p:spPr>
          <a:xfrm>
            <a:off x="265176" y="1321357"/>
            <a:ext cx="8490897" cy="646331"/>
          </a:xfrm>
          <a:prstGeom prst="rect">
            <a:avLst/>
          </a:prstGeom>
          <a:noFill/>
        </p:spPr>
        <p:txBody>
          <a:bodyPr wrap="square">
            <a:spAutoFit/>
          </a:bodyPr>
          <a:lstStyle/>
          <a:p>
            <a:r>
              <a:rPr lang="fr-FR" dirty="0">
                <a:latin typeface="Times New Roman" panose="02020603050405020304" pitchFamily="18" charset="0"/>
                <a:cs typeface="Times New Roman" panose="02020603050405020304" pitchFamily="18" charset="0"/>
              </a:rPr>
              <a:t>Examen microscopique complémentaire de la goutte épaisse permettant l’identification de l’espèce de </a:t>
            </a:r>
            <a:r>
              <a:rPr lang="fr-FR" i="1" dirty="0">
                <a:latin typeface="Times New Roman" panose="02020603050405020304" pitchFamily="18" charset="0"/>
                <a:cs typeface="Times New Roman" panose="02020603050405020304" pitchFamily="18" charset="0"/>
              </a:rPr>
              <a:t>Plasmodium</a:t>
            </a:r>
            <a:r>
              <a:rPr lang="fr-FR" dirty="0">
                <a:latin typeface="Times New Roman" panose="02020603050405020304" pitchFamily="18" charset="0"/>
                <a:cs typeface="Times New Roman" panose="02020603050405020304" pitchFamily="18" charset="0"/>
              </a:rPr>
              <a:t>.</a:t>
            </a:r>
            <a:endParaRPr lang="fr-FR" noProof="0" dirty="0">
              <a:latin typeface="Times New Roman" panose="02020603050405020304" pitchFamily="18" charset="0"/>
              <a:cs typeface="Times New Roman" panose="02020603050405020304" pitchFamily="18" charset="0"/>
            </a:endParaRPr>
          </a:p>
        </p:txBody>
      </p:sp>
      <p:sp>
        <p:nvSpPr>
          <p:cNvPr id="10" name="TextBox 4">
            <a:extLst>
              <a:ext uri="{FF2B5EF4-FFF2-40B4-BE49-F238E27FC236}">
                <a16:creationId xmlns:a16="http://schemas.microsoft.com/office/drawing/2014/main" id="{3AA082BE-3B69-3E3E-8FBD-AE796776308E}"/>
              </a:ext>
            </a:extLst>
          </p:cNvPr>
          <p:cNvSpPr txBox="1"/>
          <p:nvPr/>
        </p:nvSpPr>
        <p:spPr>
          <a:xfrm>
            <a:off x="3813048" y="2152354"/>
            <a:ext cx="4881233" cy="2535566"/>
          </a:xfrm>
          <a:prstGeom prst="rect">
            <a:avLst/>
          </a:prstGeom>
          <a:noFill/>
        </p:spPr>
        <p:txBody>
          <a:bodyPr wrap="square">
            <a:spAutoFit/>
          </a:bodyPr>
          <a:lstStyle/>
          <a:p>
            <a:pPr>
              <a:lnSpc>
                <a:spcPct val="150000"/>
              </a:lnSpc>
            </a:pPr>
            <a:r>
              <a:rPr lang="fr-FR" dirty="0">
                <a:latin typeface="Times New Roman" panose="02020603050405020304" pitchFamily="18" charset="0"/>
                <a:cs typeface="Times New Roman" panose="02020603050405020304" pitchFamily="18" charset="0"/>
              </a:rPr>
              <a:t>Il permet d’observer simultanément :</a:t>
            </a:r>
          </a:p>
          <a:p>
            <a:pPr marL="285750" indent="-285750">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les hématies parasitées et non parasitées ;</a:t>
            </a:r>
          </a:p>
          <a:p>
            <a:pPr marL="285750" indent="-285750">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la morphologie et les différents stades du parasite ;</a:t>
            </a:r>
          </a:p>
          <a:p>
            <a:pPr marL="285750" indent="-285750">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les éléments morphologiques utiles à l’identification de l’espèce.</a:t>
            </a:r>
            <a:endParaRPr lang="fr-FR" noProof="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wrap="square" lIns="0" tIns="0" rIns="0" bIns="0"/>
          <a:lstStyle/>
          <a:p>
            <a:pPr algn="ctr">
              <a:spcAft>
                <a:spcPts val="400"/>
              </a:spcAft>
              <a:defRPr sz="3000"/>
            </a:pPr>
            <a:r>
              <a:rPr lang="fr-FR" noProof="0" dirty="0">
                <a:latin typeface="Times New Roman" panose="02020603050405020304" pitchFamily="18" charset="0"/>
                <a:cs typeface="Times New Roman" panose="02020603050405020304" pitchFamily="18" charset="0"/>
              </a:rPr>
              <a:t>3. PLASMODIUM FALCIPARUM</a:t>
            </a:r>
          </a:p>
        </p:txBody>
      </p:sp>
      <p:sp>
        <p:nvSpPr>
          <p:cNvPr id="3" name="Espace réservé du contenu 2"/>
          <p:cNvSpPr>
            <a:spLocks noGrp="1"/>
          </p:cNvSpPr>
          <p:nvPr>
            <p:ph idx="1"/>
          </p:nvPr>
        </p:nvSpPr>
        <p:spPr>
          <a:xfrm>
            <a:off x="4041434" y="3128875"/>
            <a:ext cx="4698285" cy="2352895"/>
          </a:xfrm>
        </p:spPr>
        <p:txBody>
          <a:bodyPr wrap="square" lIns="0" tIns="0" rIns="0" bIns="0">
            <a:normAutofit fontScale="92500" lnSpcReduction="10000"/>
          </a:bodyPr>
          <a:lstStyle/>
          <a:p>
            <a:pPr marL="0" indent="0" algn="just">
              <a:lnSpc>
                <a:spcPct val="160000"/>
              </a:lnSpc>
              <a:buNone/>
            </a:pPr>
            <a:r>
              <a:rPr lang="fr-FR" sz="2000" dirty="0">
                <a:latin typeface="Times New Roman" panose="02020603050405020304" pitchFamily="18" charset="0"/>
                <a:cs typeface="Times New Roman" panose="02020603050405020304" pitchFamily="18" charset="0"/>
              </a:rPr>
              <a:t>Trophozoïte</a:t>
            </a:r>
            <a:endParaRPr lang="fr-FR" sz="1800" dirty="0">
              <a:latin typeface="Times New Roman" panose="02020603050405020304" pitchFamily="18" charset="0"/>
              <a:cs typeface="Times New Roman" panose="02020603050405020304" pitchFamily="18" charset="0"/>
            </a:endParaRPr>
          </a:p>
          <a:p>
            <a:pPr algn="just">
              <a:lnSpc>
                <a:spcPct val="160000"/>
              </a:lnSpc>
            </a:pPr>
            <a:r>
              <a:rPr lang="fr-FR" sz="1800" dirty="0">
                <a:latin typeface="Times New Roman" panose="02020603050405020304" pitchFamily="18" charset="0"/>
                <a:cs typeface="Times New Roman" panose="02020603050405020304" pitchFamily="18" charset="0"/>
              </a:rPr>
              <a:t>Forme jeune en anneau (« bague à chaton »).</a:t>
            </a:r>
          </a:p>
          <a:p>
            <a:pPr algn="just">
              <a:lnSpc>
                <a:spcPct val="160000"/>
              </a:lnSpc>
            </a:pPr>
            <a:r>
              <a:rPr lang="fr-FR" sz="1800" dirty="0">
                <a:latin typeface="Times New Roman" panose="02020603050405020304" pitchFamily="18" charset="0"/>
                <a:cs typeface="Times New Roman" panose="02020603050405020304" pitchFamily="18" charset="0"/>
              </a:rPr>
              <a:t>Forme plus âgée pouvant présenter une position marginale.</a:t>
            </a:r>
          </a:p>
          <a:p>
            <a:pPr algn="just">
              <a:lnSpc>
                <a:spcPct val="160000"/>
              </a:lnSpc>
            </a:pPr>
            <a:r>
              <a:rPr lang="fr-FR" sz="1800" dirty="0">
                <a:latin typeface="Times New Roman" panose="02020603050405020304" pitchFamily="18" charset="0"/>
                <a:cs typeface="Times New Roman" panose="02020603050405020304" pitchFamily="18" charset="0"/>
              </a:rPr>
              <a:t>Taches de Maurer.</a:t>
            </a:r>
            <a:endParaRPr lang="fr-FR" sz="1800" noProof="0" dirty="0">
              <a:latin typeface="Times New Roman" panose="02020603050405020304" pitchFamily="18" charset="0"/>
              <a:cs typeface="Times New Roman" panose="02020603050405020304" pitchFamily="18" charset="0"/>
            </a:endParaRPr>
          </a:p>
        </p:txBody>
      </p:sp>
      <p:pic>
        <p:nvPicPr>
          <p:cNvPr id="6" name="Image 6" descr="P. falciparum : trophozoïtes jeunes (gauche) et âgés (droite)"/>
          <p:cNvPicPr>
            <a:picLocks noChangeAspect="1"/>
          </p:cNvPicPr>
          <p:nvPr/>
        </p:nvPicPr>
        <p:blipFill>
          <a:blip r:embed="rId3"/>
          <a:stretch>
            <a:fillRect/>
          </a:stretch>
        </p:blipFill>
        <p:spPr>
          <a:xfrm>
            <a:off x="213711" y="2495025"/>
            <a:ext cx="3545000" cy="2100740"/>
          </a:xfrm>
          <a:prstGeom prst="rect">
            <a:avLst/>
          </a:prstGeom>
        </p:spPr>
      </p:pic>
      <p:sp>
        <p:nvSpPr>
          <p:cNvPr id="7" name="ZoneTexte 6"/>
          <p:cNvSpPr txBox="1"/>
          <p:nvPr/>
        </p:nvSpPr>
        <p:spPr>
          <a:xfrm>
            <a:off x="213711" y="4950000"/>
            <a:ext cx="3560000" cy="861774"/>
          </a:xfrm>
          <a:prstGeom prst="rect">
            <a:avLst/>
          </a:prstGeom>
          <a:noFill/>
        </p:spPr>
        <p:txBody>
          <a:bodyPr wrap="square" rtlCol="0">
            <a:spAutoFit/>
          </a:bodyPr>
          <a:lstStyle/>
          <a:p>
            <a:r>
              <a:rPr lang="fr-FR" b="1" noProof="0" dirty="0">
                <a:latin typeface="Times New Roman" panose="02020603050405020304" pitchFamily="18" charset="0"/>
                <a:cs typeface="Times New Roman" panose="02020603050405020304" pitchFamily="18" charset="0"/>
              </a:rPr>
              <a:t>Fig. 3 : </a:t>
            </a:r>
            <a:r>
              <a:rPr lang="fr-FR" noProof="0" dirty="0">
                <a:latin typeface="Times New Roman" panose="02020603050405020304" pitchFamily="18" charset="0"/>
                <a:cs typeface="Times New Roman" panose="02020603050405020304" pitchFamily="18" charset="0"/>
              </a:rPr>
              <a:t>P. falciparum </a:t>
            </a:r>
            <a:r>
              <a:rPr lang="fr-FR" dirty="0">
                <a:latin typeface="Times New Roman" panose="02020603050405020304" pitchFamily="18" charset="0"/>
                <a:cs typeface="Times New Roman" panose="02020603050405020304" pitchFamily="18" charset="0"/>
              </a:rPr>
              <a:t>-</a:t>
            </a:r>
            <a:r>
              <a:rPr lang="fr-FR" noProof="0" dirty="0">
                <a:latin typeface="Times New Roman" panose="02020603050405020304" pitchFamily="18" charset="0"/>
                <a:cs typeface="Times New Roman" panose="02020603050405020304" pitchFamily="18" charset="0"/>
              </a:rPr>
              <a:t> trophozoïtes jeunes et âgés</a:t>
            </a:r>
          </a:p>
          <a:p>
            <a:r>
              <a:rPr lang="fr-FR" sz="1400" b="1" dirty="0">
                <a:latin typeface="Times New Roman" panose="02020603050405020304" pitchFamily="18" charset="0"/>
                <a:cs typeface="Times New Roman" panose="02020603050405020304" pitchFamily="18" charset="0"/>
              </a:rPr>
              <a:t>Source: </a:t>
            </a:r>
            <a:r>
              <a:rPr lang="fr-FR" sz="1400" dirty="0">
                <a:latin typeface="Times New Roman" panose="02020603050405020304" pitchFamily="18" charset="0"/>
                <a:cs typeface="Times New Roman" panose="02020603050405020304" pitchFamily="18" charset="0"/>
              </a:rPr>
              <a:t>Planche « Diagnostic du paludisme »</a:t>
            </a:r>
            <a:endParaRPr lang="fr-FR" sz="1400" noProof="0" dirty="0">
              <a:latin typeface="Times New Roman" panose="02020603050405020304" pitchFamily="18" charset="0"/>
              <a:cs typeface="Times New Roman" panose="02020603050405020304" pitchFamily="18" charset="0"/>
            </a:endParaRPr>
          </a:p>
        </p:txBody>
      </p:sp>
      <p:sp>
        <p:nvSpPr>
          <p:cNvPr id="4" name="Espace réservé du numéro de diapositive 3"/>
          <p:cNvSpPr>
            <a:spLocks noGrp="1"/>
          </p:cNvSpPr>
          <p:nvPr>
            <p:ph type="sldNum" sz="quarter" idx="12"/>
          </p:nvPr>
        </p:nvSpPr>
        <p:spPr/>
        <p:txBody>
          <a:bodyPr/>
          <a:lstStyle/>
          <a:p>
            <a:r>
              <a:rPr lang="fr-FR" sz="1200" noProof="0" dirty="0"/>
              <a:t>6</a:t>
            </a:r>
            <a:endParaRPr lang="fr-FR" noProof="0" dirty="0"/>
          </a:p>
        </p:txBody>
      </p:sp>
      <p:sp>
        <p:nvSpPr>
          <p:cNvPr id="8" name="ZoneTexte 7">
            <a:extLst>
              <a:ext uri="{FF2B5EF4-FFF2-40B4-BE49-F238E27FC236}">
                <a16:creationId xmlns:a16="http://schemas.microsoft.com/office/drawing/2014/main" id="{FCBE08D5-4CEE-71AC-3E53-556805F73D43}"/>
              </a:ext>
            </a:extLst>
          </p:cNvPr>
          <p:cNvSpPr txBox="1"/>
          <p:nvPr/>
        </p:nvSpPr>
        <p:spPr>
          <a:xfrm>
            <a:off x="3850866" y="1690689"/>
            <a:ext cx="5079423" cy="1289071"/>
          </a:xfrm>
          <a:prstGeom prst="rect">
            <a:avLst/>
          </a:prstGeom>
          <a:noFill/>
        </p:spPr>
        <p:txBody>
          <a:bodyPr wrap="square" rtlCol="0">
            <a:spAutoFit/>
          </a:bodyPr>
          <a:lstStyle/>
          <a:p>
            <a:pPr marL="228600" indent="-228600">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Hématie généralement de même taille que l’hématie non parasitée.</a:t>
            </a:r>
          </a:p>
          <a:p>
            <a:pPr marL="228600" indent="-228600">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Pluri-parasitisme fréquent</a:t>
            </a:r>
            <a:endParaRPr lang="fr-FR" noProof="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wrap="square" lIns="0" tIns="0" rIns="0" bIns="0"/>
          <a:lstStyle/>
          <a:p>
            <a:pPr algn="ctr">
              <a:spcAft>
                <a:spcPts val="400"/>
              </a:spcAft>
              <a:defRPr sz="3000"/>
            </a:pPr>
            <a:r>
              <a:rPr lang="fr-FR" noProof="0" dirty="0">
                <a:latin typeface="Times New Roman" panose="02020603050405020304" pitchFamily="18" charset="0"/>
                <a:cs typeface="Times New Roman" panose="02020603050405020304" pitchFamily="18" charset="0"/>
              </a:rPr>
              <a:t>3. PLASMODIUM FALCIPARUM</a:t>
            </a:r>
          </a:p>
        </p:txBody>
      </p:sp>
      <p:pic>
        <p:nvPicPr>
          <p:cNvPr id="6" name="Image 6" descr="P. falciparum : schizontes/rosaces (gauche), gamétocytes (droite)"/>
          <p:cNvPicPr>
            <a:picLocks noChangeAspect="1"/>
          </p:cNvPicPr>
          <p:nvPr/>
        </p:nvPicPr>
        <p:blipFill>
          <a:blip r:embed="rId3"/>
          <a:stretch>
            <a:fillRect/>
          </a:stretch>
        </p:blipFill>
        <p:spPr>
          <a:xfrm>
            <a:off x="213711" y="2105639"/>
            <a:ext cx="3544999" cy="2208722"/>
          </a:xfrm>
          <a:prstGeom prst="rect">
            <a:avLst/>
          </a:prstGeom>
        </p:spPr>
      </p:pic>
      <p:sp>
        <p:nvSpPr>
          <p:cNvPr id="7" name="ZoneTexte 6"/>
          <p:cNvSpPr txBox="1"/>
          <p:nvPr/>
        </p:nvSpPr>
        <p:spPr>
          <a:xfrm>
            <a:off x="213711" y="4950000"/>
            <a:ext cx="3560000" cy="861774"/>
          </a:xfrm>
          <a:prstGeom prst="rect">
            <a:avLst/>
          </a:prstGeom>
          <a:noFill/>
        </p:spPr>
        <p:txBody>
          <a:bodyPr wrap="square" rtlCol="0">
            <a:spAutoFit/>
          </a:bodyPr>
          <a:lstStyle/>
          <a:p>
            <a:r>
              <a:rPr lang="fr-FR" noProof="0" dirty="0">
                <a:latin typeface="Times New Roman" panose="02020603050405020304" pitchFamily="18" charset="0"/>
                <a:cs typeface="Times New Roman" panose="02020603050405020304" pitchFamily="18" charset="0"/>
              </a:rPr>
              <a:t>Fig. 4 : P. falciparum – schizontes</a:t>
            </a:r>
            <a:r>
              <a:rPr lang="fr-FR" dirty="0">
                <a:latin typeface="Times New Roman" panose="02020603050405020304" pitchFamily="18" charset="0"/>
                <a:cs typeface="Times New Roman" panose="02020603050405020304" pitchFamily="18" charset="0"/>
              </a:rPr>
              <a:t> </a:t>
            </a:r>
            <a:r>
              <a:rPr lang="fr-FR" noProof="0" dirty="0">
                <a:latin typeface="Times New Roman" panose="02020603050405020304" pitchFamily="18" charset="0"/>
                <a:cs typeface="Times New Roman" panose="02020603050405020304" pitchFamily="18" charset="0"/>
              </a:rPr>
              <a:t>et gamétocytes</a:t>
            </a:r>
          </a:p>
          <a:p>
            <a:r>
              <a:rPr lang="fr-FR" sz="1400" b="1" dirty="0">
                <a:latin typeface="Times New Roman" panose="02020603050405020304" pitchFamily="18" charset="0"/>
                <a:cs typeface="Times New Roman" panose="02020603050405020304" pitchFamily="18" charset="0"/>
              </a:rPr>
              <a:t>Source</a:t>
            </a:r>
            <a:r>
              <a:rPr lang="fr-FR" sz="1400" dirty="0">
                <a:latin typeface="Times New Roman" panose="02020603050405020304" pitchFamily="18" charset="0"/>
                <a:cs typeface="Times New Roman" panose="02020603050405020304" pitchFamily="18" charset="0"/>
              </a:rPr>
              <a:t>: Planche « Diagnostic du paludisme »</a:t>
            </a:r>
            <a:endParaRPr lang="fr-FR" sz="1400" noProof="0" dirty="0">
              <a:latin typeface="Times New Roman" panose="02020603050405020304" pitchFamily="18" charset="0"/>
              <a:cs typeface="Times New Roman" panose="02020603050405020304" pitchFamily="18" charset="0"/>
            </a:endParaRPr>
          </a:p>
        </p:txBody>
      </p:sp>
      <p:sp>
        <p:nvSpPr>
          <p:cNvPr id="4" name="Espace réservé du numéro de diapositive 3"/>
          <p:cNvSpPr>
            <a:spLocks noGrp="1"/>
          </p:cNvSpPr>
          <p:nvPr>
            <p:ph type="sldNum" sz="quarter" idx="12"/>
          </p:nvPr>
        </p:nvSpPr>
        <p:spPr/>
        <p:txBody>
          <a:bodyPr/>
          <a:lstStyle/>
          <a:p>
            <a:r>
              <a:rPr lang="fr-FR" sz="1200" noProof="0" dirty="0"/>
              <a:t>7</a:t>
            </a:r>
            <a:endParaRPr lang="fr-FR" noProof="0" dirty="0"/>
          </a:p>
        </p:txBody>
      </p:sp>
      <p:sp>
        <p:nvSpPr>
          <p:cNvPr id="8" name="ZoneTexte 7">
            <a:extLst>
              <a:ext uri="{FF2B5EF4-FFF2-40B4-BE49-F238E27FC236}">
                <a16:creationId xmlns:a16="http://schemas.microsoft.com/office/drawing/2014/main" id="{AE157826-48DC-8869-7A52-808A6E2018ED}"/>
              </a:ext>
            </a:extLst>
          </p:cNvPr>
          <p:cNvSpPr txBox="1"/>
          <p:nvPr/>
        </p:nvSpPr>
        <p:spPr>
          <a:xfrm>
            <a:off x="4216460" y="1793063"/>
            <a:ext cx="4482980" cy="1566070"/>
          </a:xfrm>
          <a:prstGeom prst="rect">
            <a:avLst/>
          </a:prstGeom>
          <a:noFill/>
        </p:spPr>
        <p:txBody>
          <a:bodyPr wrap="square" rtlCol="0">
            <a:spAutoFit/>
          </a:bodyPr>
          <a:lstStyle/>
          <a:p>
            <a:r>
              <a:rPr lang="fr-FR" dirty="0">
                <a:latin typeface="Times New Roman" panose="02020603050405020304" pitchFamily="18" charset="0"/>
                <a:cs typeface="Times New Roman" panose="02020603050405020304" pitchFamily="18" charset="0"/>
              </a:rPr>
              <a:t>Schizonte : </a:t>
            </a:r>
          </a:p>
          <a:p>
            <a:pPr marL="285750" indent="-285750">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Généralement absent du sang périphérique.</a:t>
            </a:r>
          </a:p>
          <a:p>
            <a:pPr marL="285750" indent="-285750">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Sa présence constitue un signe de gravité.</a:t>
            </a:r>
          </a:p>
          <a:p>
            <a:pPr marL="285750" indent="-285750">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8 à 32 mérozoïtes.</a:t>
            </a:r>
            <a:endParaRPr lang="fr-FR" sz="1400" noProof="0" dirty="0">
              <a:latin typeface="Times New Roman" panose="02020603050405020304" pitchFamily="18" charset="0"/>
              <a:cs typeface="Times New Roman" panose="02020603050405020304" pitchFamily="18" charset="0"/>
            </a:endParaRPr>
          </a:p>
        </p:txBody>
      </p:sp>
      <p:sp>
        <p:nvSpPr>
          <p:cNvPr id="10" name="ZoneTexte 9">
            <a:extLst>
              <a:ext uri="{FF2B5EF4-FFF2-40B4-BE49-F238E27FC236}">
                <a16:creationId xmlns:a16="http://schemas.microsoft.com/office/drawing/2014/main" id="{6D46A999-DE25-7248-8146-E0779C95D75E}"/>
              </a:ext>
            </a:extLst>
          </p:cNvPr>
          <p:cNvSpPr txBox="1"/>
          <p:nvPr/>
        </p:nvSpPr>
        <p:spPr>
          <a:xfrm>
            <a:off x="4216460" y="4043371"/>
            <a:ext cx="4482980" cy="1289071"/>
          </a:xfrm>
          <a:prstGeom prst="rect">
            <a:avLst/>
          </a:prstGeom>
          <a:noFill/>
        </p:spPr>
        <p:txBody>
          <a:bodyPr wrap="square" rtlCol="0">
            <a:spAutoFit/>
          </a:bodyPr>
          <a:lstStyle/>
          <a:p>
            <a:pPr>
              <a:lnSpc>
                <a:spcPct val="150000"/>
              </a:lnSpc>
            </a:pPr>
            <a:r>
              <a:rPr lang="fr-FR" dirty="0">
                <a:latin typeface="Times New Roman" panose="02020603050405020304" pitchFamily="18" charset="0"/>
                <a:cs typeface="Times New Roman" panose="02020603050405020304" pitchFamily="18" charset="0"/>
              </a:rPr>
              <a:t>Gametocyte</a:t>
            </a:r>
          </a:p>
          <a:p>
            <a:pPr marL="285750" indent="-285750">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 Forme caractéristique en banane / croissant.</a:t>
            </a:r>
            <a:endParaRPr lang="fr-FR" sz="1400" noProof="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wrap="square" lIns="0" tIns="0" rIns="0" bIns="0"/>
          <a:lstStyle/>
          <a:p>
            <a:pPr algn="ctr">
              <a:spcAft>
                <a:spcPts val="400"/>
              </a:spcAft>
              <a:defRPr sz="3000"/>
            </a:pPr>
            <a:r>
              <a:rPr lang="fr-FR" noProof="0" dirty="0"/>
              <a:t>4. </a:t>
            </a:r>
            <a:r>
              <a:rPr lang="fr-FR" noProof="0" dirty="0">
                <a:latin typeface="Times New Roman" panose="02020603050405020304" pitchFamily="18" charset="0"/>
                <a:cs typeface="Times New Roman" panose="02020603050405020304" pitchFamily="18" charset="0"/>
              </a:rPr>
              <a:t>PLASMODIUM</a:t>
            </a:r>
            <a:r>
              <a:rPr lang="fr-FR" noProof="0" dirty="0"/>
              <a:t> MALARIAE</a:t>
            </a:r>
          </a:p>
        </p:txBody>
      </p:sp>
      <p:pic>
        <p:nvPicPr>
          <p:cNvPr id="6" name="Image 6" descr="P. malariae : trophozoïtes jeunes (gauche) et âgés (droite)"/>
          <p:cNvPicPr>
            <a:picLocks noChangeAspect="1"/>
          </p:cNvPicPr>
          <p:nvPr/>
        </p:nvPicPr>
        <p:blipFill>
          <a:blip r:embed="rId3"/>
          <a:stretch>
            <a:fillRect/>
          </a:stretch>
        </p:blipFill>
        <p:spPr>
          <a:xfrm>
            <a:off x="321773" y="1560000"/>
            <a:ext cx="3328875" cy="3300000"/>
          </a:xfrm>
          <a:prstGeom prst="rect">
            <a:avLst/>
          </a:prstGeom>
        </p:spPr>
      </p:pic>
      <p:sp>
        <p:nvSpPr>
          <p:cNvPr id="7" name="ZoneTexte 6"/>
          <p:cNvSpPr txBox="1"/>
          <p:nvPr/>
        </p:nvSpPr>
        <p:spPr>
          <a:xfrm>
            <a:off x="213711" y="4950000"/>
            <a:ext cx="3560000" cy="584775"/>
          </a:xfrm>
          <a:prstGeom prst="rect">
            <a:avLst/>
          </a:prstGeom>
          <a:noFill/>
        </p:spPr>
        <p:txBody>
          <a:bodyPr wrap="square" rtlCol="0">
            <a:spAutoFit/>
          </a:bodyPr>
          <a:lstStyle/>
          <a:p>
            <a:r>
              <a:rPr lang="fr-FR" b="1" noProof="0" dirty="0">
                <a:latin typeface="Times New Roman" panose="02020603050405020304" pitchFamily="18" charset="0"/>
                <a:cs typeface="Times New Roman" panose="02020603050405020304" pitchFamily="18" charset="0"/>
              </a:rPr>
              <a:t>Fig. 5 : </a:t>
            </a:r>
            <a:r>
              <a:rPr lang="fr-FR" noProof="0" dirty="0">
                <a:latin typeface="Times New Roman" panose="02020603050405020304" pitchFamily="18" charset="0"/>
                <a:cs typeface="Times New Roman" panose="02020603050405020304" pitchFamily="18" charset="0"/>
              </a:rPr>
              <a:t>P. malariae – trophozoïtes</a:t>
            </a:r>
          </a:p>
          <a:p>
            <a:r>
              <a:rPr lang="fr-FR" sz="1400" b="1" dirty="0">
                <a:latin typeface="Times New Roman" panose="02020603050405020304" pitchFamily="18" charset="0"/>
                <a:cs typeface="Times New Roman" panose="02020603050405020304" pitchFamily="18" charset="0"/>
              </a:rPr>
              <a:t>Source</a:t>
            </a:r>
            <a:r>
              <a:rPr lang="fr-FR" sz="1400" dirty="0">
                <a:latin typeface="Times New Roman" panose="02020603050405020304" pitchFamily="18" charset="0"/>
                <a:cs typeface="Times New Roman" panose="02020603050405020304" pitchFamily="18" charset="0"/>
              </a:rPr>
              <a:t>: Planche « Diagnostic du paludisme »</a:t>
            </a:r>
          </a:p>
        </p:txBody>
      </p:sp>
      <p:sp>
        <p:nvSpPr>
          <p:cNvPr id="4" name="Espace réservé du numéro de diapositive 3"/>
          <p:cNvSpPr>
            <a:spLocks noGrp="1"/>
          </p:cNvSpPr>
          <p:nvPr>
            <p:ph type="sldNum" sz="quarter" idx="12"/>
          </p:nvPr>
        </p:nvSpPr>
        <p:spPr/>
        <p:txBody>
          <a:bodyPr/>
          <a:lstStyle/>
          <a:p>
            <a:r>
              <a:rPr lang="fr-FR" sz="1200" noProof="0" dirty="0"/>
              <a:t>9</a:t>
            </a:r>
            <a:endParaRPr lang="fr-FR" noProof="0" dirty="0"/>
          </a:p>
        </p:txBody>
      </p:sp>
      <p:sp>
        <p:nvSpPr>
          <p:cNvPr id="10" name="ZoneTexte 9">
            <a:extLst>
              <a:ext uri="{FF2B5EF4-FFF2-40B4-BE49-F238E27FC236}">
                <a16:creationId xmlns:a16="http://schemas.microsoft.com/office/drawing/2014/main" id="{13D40B53-D25C-B4EE-1899-5807179133C6}"/>
              </a:ext>
            </a:extLst>
          </p:cNvPr>
          <p:cNvSpPr txBox="1"/>
          <p:nvPr/>
        </p:nvSpPr>
        <p:spPr>
          <a:xfrm>
            <a:off x="3957526" y="2044909"/>
            <a:ext cx="4557824" cy="87357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Hématie parasitée plus petite que l’hématie non parasitée.</a:t>
            </a:r>
            <a:endParaRPr lang="fr-FR" sz="1400" dirty="0">
              <a:latin typeface="Times New Roman" panose="02020603050405020304" pitchFamily="18" charset="0"/>
              <a:cs typeface="Times New Roman" panose="02020603050405020304" pitchFamily="18" charset="0"/>
            </a:endParaRPr>
          </a:p>
        </p:txBody>
      </p:sp>
      <p:sp>
        <p:nvSpPr>
          <p:cNvPr id="12" name="ZoneTexte 11">
            <a:extLst>
              <a:ext uri="{FF2B5EF4-FFF2-40B4-BE49-F238E27FC236}">
                <a16:creationId xmlns:a16="http://schemas.microsoft.com/office/drawing/2014/main" id="{0FC59780-61AB-2B14-13F2-4C727076177D}"/>
              </a:ext>
            </a:extLst>
          </p:cNvPr>
          <p:cNvSpPr txBox="1"/>
          <p:nvPr/>
        </p:nvSpPr>
        <p:spPr>
          <a:xfrm>
            <a:off x="4054508" y="3429000"/>
            <a:ext cx="4557824" cy="1704569"/>
          </a:xfrm>
          <a:prstGeom prst="rect">
            <a:avLst/>
          </a:prstGeom>
          <a:noFill/>
        </p:spPr>
        <p:txBody>
          <a:bodyPr wrap="square" rtlCol="0">
            <a:spAutoFit/>
          </a:bodyPr>
          <a:lstStyle/>
          <a:p>
            <a:pPr>
              <a:lnSpc>
                <a:spcPct val="150000"/>
              </a:lnSpc>
            </a:pPr>
            <a:r>
              <a:rPr lang="fr-FR" dirty="0">
                <a:latin typeface="Times New Roman" panose="02020603050405020304" pitchFamily="18" charset="0"/>
                <a:cs typeface="Times New Roman" panose="02020603050405020304" pitchFamily="18" charset="0"/>
              </a:rPr>
              <a:t>Trophozoïte</a:t>
            </a:r>
          </a:p>
          <a:p>
            <a:pPr marL="285750" indent="-285750">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Forme compacte.</a:t>
            </a:r>
          </a:p>
          <a:p>
            <a:pPr marL="285750" indent="-285750">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Bande équatoriale caractéristique possible.</a:t>
            </a:r>
          </a:p>
          <a:p>
            <a:pPr marL="285750" indent="-285750">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Pigment malarique présent.</a:t>
            </a:r>
            <a:endParaRPr lang="fr-FR"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wrap="square" lIns="0" tIns="0" rIns="0" bIns="0"/>
          <a:lstStyle/>
          <a:p>
            <a:pPr algn="ctr">
              <a:spcAft>
                <a:spcPts val="400"/>
              </a:spcAft>
              <a:defRPr sz="3000"/>
            </a:pPr>
            <a:r>
              <a:rPr lang="fr-FR" noProof="0" dirty="0">
                <a:latin typeface="Times New Roman" panose="02020603050405020304" pitchFamily="18" charset="0"/>
                <a:cs typeface="Times New Roman" panose="02020603050405020304" pitchFamily="18" charset="0"/>
              </a:rPr>
              <a:t>4. PLASMODIUM MALARIAE</a:t>
            </a:r>
          </a:p>
        </p:txBody>
      </p:sp>
      <p:pic>
        <p:nvPicPr>
          <p:cNvPr id="6" name="Image 6" descr="P. malariae : rosaces (gauche), gamétocytes (droite)"/>
          <p:cNvPicPr>
            <a:picLocks noChangeAspect="1"/>
          </p:cNvPicPr>
          <p:nvPr/>
        </p:nvPicPr>
        <p:blipFill>
          <a:blip r:embed="rId3"/>
          <a:stretch>
            <a:fillRect/>
          </a:stretch>
        </p:blipFill>
        <p:spPr>
          <a:xfrm>
            <a:off x="213711" y="2059959"/>
            <a:ext cx="3545000" cy="2300081"/>
          </a:xfrm>
          <a:prstGeom prst="rect">
            <a:avLst/>
          </a:prstGeom>
        </p:spPr>
      </p:pic>
      <p:sp>
        <p:nvSpPr>
          <p:cNvPr id="7" name="ZoneTexte 6"/>
          <p:cNvSpPr txBox="1"/>
          <p:nvPr/>
        </p:nvSpPr>
        <p:spPr>
          <a:xfrm>
            <a:off x="213711" y="4950000"/>
            <a:ext cx="3560000" cy="861774"/>
          </a:xfrm>
          <a:prstGeom prst="rect">
            <a:avLst/>
          </a:prstGeom>
          <a:noFill/>
        </p:spPr>
        <p:txBody>
          <a:bodyPr wrap="square" rtlCol="0">
            <a:spAutoFit/>
          </a:bodyPr>
          <a:lstStyle/>
          <a:p>
            <a:r>
              <a:rPr lang="fr-FR" b="1" noProof="0" dirty="0">
                <a:latin typeface="Times New Roman" panose="02020603050405020304" pitchFamily="18" charset="0"/>
                <a:cs typeface="Times New Roman" panose="02020603050405020304" pitchFamily="18" charset="0"/>
              </a:rPr>
              <a:t>Fig. 6: </a:t>
            </a:r>
            <a:r>
              <a:rPr lang="fr-FR" noProof="0" dirty="0">
                <a:latin typeface="Times New Roman" panose="02020603050405020304" pitchFamily="18" charset="0"/>
                <a:cs typeface="Times New Roman" panose="02020603050405020304" pitchFamily="18" charset="0"/>
              </a:rPr>
              <a:t>P. malariae - rosaces et gamétocytes</a:t>
            </a:r>
          </a:p>
          <a:p>
            <a:r>
              <a:rPr lang="fr-FR" sz="1400" b="1" dirty="0">
                <a:latin typeface="Times New Roman" panose="02020603050405020304" pitchFamily="18" charset="0"/>
                <a:cs typeface="Times New Roman" panose="02020603050405020304" pitchFamily="18" charset="0"/>
              </a:rPr>
              <a:t>Source</a:t>
            </a:r>
            <a:r>
              <a:rPr lang="fr-FR" sz="1400" dirty="0">
                <a:latin typeface="Times New Roman" panose="02020603050405020304" pitchFamily="18" charset="0"/>
                <a:cs typeface="Times New Roman" panose="02020603050405020304" pitchFamily="18" charset="0"/>
              </a:rPr>
              <a:t>: Planche « Diagnostic du paludisme »</a:t>
            </a:r>
          </a:p>
        </p:txBody>
      </p:sp>
      <p:sp>
        <p:nvSpPr>
          <p:cNvPr id="4" name="Espace réservé du numéro de diapositive 3"/>
          <p:cNvSpPr>
            <a:spLocks noGrp="1"/>
          </p:cNvSpPr>
          <p:nvPr>
            <p:ph type="sldNum" sz="quarter" idx="12"/>
          </p:nvPr>
        </p:nvSpPr>
        <p:spPr/>
        <p:txBody>
          <a:bodyPr/>
          <a:lstStyle/>
          <a:p>
            <a:r>
              <a:rPr lang="fr-FR" noProof="0" dirty="0"/>
              <a:t>10</a:t>
            </a:r>
          </a:p>
        </p:txBody>
      </p:sp>
      <p:sp>
        <p:nvSpPr>
          <p:cNvPr id="10" name="ZoneTexte 9">
            <a:extLst>
              <a:ext uri="{FF2B5EF4-FFF2-40B4-BE49-F238E27FC236}">
                <a16:creationId xmlns:a16="http://schemas.microsoft.com/office/drawing/2014/main" id="{30922346-D939-C9EC-02B7-415AB22C52EC}"/>
              </a:ext>
            </a:extLst>
          </p:cNvPr>
          <p:cNvSpPr txBox="1"/>
          <p:nvPr/>
        </p:nvSpPr>
        <p:spPr>
          <a:xfrm>
            <a:off x="4259239" y="1629072"/>
            <a:ext cx="3998070" cy="2258567"/>
          </a:xfrm>
          <a:prstGeom prst="rect">
            <a:avLst/>
          </a:prstGeom>
          <a:noFill/>
        </p:spPr>
        <p:txBody>
          <a:bodyPr wrap="square" rtlCol="0">
            <a:spAutoFit/>
          </a:bodyPr>
          <a:lstStyle/>
          <a:p>
            <a:r>
              <a:rPr lang="fr-FR" dirty="0">
                <a:latin typeface="Times New Roman" panose="02020603050405020304" pitchFamily="18" charset="0"/>
                <a:cs typeface="Times New Roman" panose="02020603050405020304" pitchFamily="18" charset="0"/>
              </a:rPr>
              <a:t>Schizonte</a:t>
            </a:r>
          </a:p>
          <a:p>
            <a:endParaRPr lang="fr-FR"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8 à 12 mérozoïtes.</a:t>
            </a:r>
          </a:p>
          <a:p>
            <a:pPr marL="285750" indent="-285750">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Disposition régulière en rosette (« fleur de marguerite »).</a:t>
            </a:r>
          </a:p>
          <a:p>
            <a:pPr marL="285750" indent="-285750">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Pigment central.</a:t>
            </a:r>
          </a:p>
        </p:txBody>
      </p:sp>
      <p:sp>
        <p:nvSpPr>
          <p:cNvPr id="12" name="ZoneTexte 11">
            <a:extLst>
              <a:ext uri="{FF2B5EF4-FFF2-40B4-BE49-F238E27FC236}">
                <a16:creationId xmlns:a16="http://schemas.microsoft.com/office/drawing/2014/main" id="{C181D4A2-88AB-1861-2641-5BD0E262277E}"/>
              </a:ext>
            </a:extLst>
          </p:cNvPr>
          <p:cNvSpPr txBox="1"/>
          <p:nvPr/>
        </p:nvSpPr>
        <p:spPr>
          <a:xfrm>
            <a:off x="4259239" y="4159401"/>
            <a:ext cx="3998070" cy="873572"/>
          </a:xfrm>
          <a:prstGeom prst="rect">
            <a:avLst/>
          </a:prstGeom>
          <a:noFill/>
        </p:spPr>
        <p:txBody>
          <a:bodyPr wrap="square" rtlCol="0">
            <a:spAutoFit/>
          </a:bodyPr>
          <a:lstStyle/>
          <a:p>
            <a:pPr>
              <a:lnSpc>
                <a:spcPct val="150000"/>
              </a:lnSpc>
            </a:pPr>
            <a:r>
              <a:rPr lang="fr-FR" dirty="0">
                <a:latin typeface="Times New Roman" panose="02020603050405020304" pitchFamily="18" charset="0"/>
                <a:cs typeface="Times New Roman" panose="02020603050405020304" pitchFamily="18" charset="0"/>
              </a:rPr>
              <a:t>Gametocyte</a:t>
            </a:r>
          </a:p>
          <a:p>
            <a:pPr marL="285750" indent="-285750">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Forme arrondie avec pigment.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wrap="square" lIns="0" tIns="0" rIns="0" bIns="0"/>
          <a:lstStyle/>
          <a:p>
            <a:pPr algn="ctr">
              <a:spcAft>
                <a:spcPts val="400"/>
              </a:spcAft>
              <a:defRPr sz="3000"/>
            </a:pPr>
            <a:r>
              <a:rPr lang="fr-FR" noProof="0" dirty="0">
                <a:latin typeface="Times New Roman" panose="02020603050405020304" pitchFamily="18" charset="0"/>
                <a:cs typeface="Times New Roman" panose="02020603050405020304" pitchFamily="18" charset="0"/>
              </a:rPr>
              <a:t>5. PLASMODIUM OVALE</a:t>
            </a:r>
          </a:p>
        </p:txBody>
      </p:sp>
      <p:pic>
        <p:nvPicPr>
          <p:cNvPr id="6" name="Image 6" descr="P. ovale : trophozoïtes jeunes (gauche) et âgés (droite)"/>
          <p:cNvPicPr>
            <a:picLocks noChangeAspect="1"/>
          </p:cNvPicPr>
          <p:nvPr/>
        </p:nvPicPr>
        <p:blipFill>
          <a:blip r:embed="rId3"/>
          <a:stretch>
            <a:fillRect/>
          </a:stretch>
        </p:blipFill>
        <p:spPr>
          <a:xfrm>
            <a:off x="213711" y="1773323"/>
            <a:ext cx="3545000" cy="2873353"/>
          </a:xfrm>
          <a:prstGeom prst="rect">
            <a:avLst/>
          </a:prstGeom>
        </p:spPr>
      </p:pic>
      <p:sp>
        <p:nvSpPr>
          <p:cNvPr id="7" name="ZoneTexte 6"/>
          <p:cNvSpPr txBox="1"/>
          <p:nvPr/>
        </p:nvSpPr>
        <p:spPr>
          <a:xfrm>
            <a:off x="241421" y="4950000"/>
            <a:ext cx="3560000" cy="584775"/>
          </a:xfrm>
          <a:prstGeom prst="rect">
            <a:avLst/>
          </a:prstGeom>
          <a:noFill/>
        </p:spPr>
        <p:txBody>
          <a:bodyPr wrap="square" rtlCol="0">
            <a:spAutoFit/>
          </a:bodyPr>
          <a:lstStyle/>
          <a:p>
            <a:r>
              <a:rPr lang="fr-FR" b="1" noProof="0" dirty="0">
                <a:latin typeface="Times New Roman" panose="02020603050405020304" pitchFamily="18" charset="0"/>
                <a:cs typeface="Times New Roman" panose="02020603050405020304" pitchFamily="18" charset="0"/>
              </a:rPr>
              <a:t>Fig. </a:t>
            </a:r>
            <a:r>
              <a:rPr lang="fr-FR" b="1" dirty="0">
                <a:latin typeface="Times New Roman" panose="02020603050405020304" pitchFamily="18" charset="0"/>
                <a:cs typeface="Times New Roman" panose="02020603050405020304" pitchFamily="18" charset="0"/>
              </a:rPr>
              <a:t>7</a:t>
            </a:r>
            <a:r>
              <a:rPr lang="fr-FR" b="1" noProof="0" dirty="0">
                <a:latin typeface="Times New Roman" panose="02020603050405020304" pitchFamily="18" charset="0"/>
                <a:cs typeface="Times New Roman" panose="02020603050405020304" pitchFamily="18" charset="0"/>
              </a:rPr>
              <a:t> </a:t>
            </a:r>
            <a:r>
              <a:rPr lang="fr-FR" noProof="0" dirty="0">
                <a:latin typeface="Times New Roman" panose="02020603050405020304" pitchFamily="18" charset="0"/>
                <a:cs typeface="Times New Roman" panose="02020603050405020304" pitchFamily="18" charset="0"/>
              </a:rPr>
              <a:t>: P. ovale – trophozoïtes</a:t>
            </a:r>
          </a:p>
          <a:p>
            <a:r>
              <a:rPr lang="fr-FR" sz="1400" b="1" dirty="0">
                <a:latin typeface="Times New Roman" panose="02020603050405020304" pitchFamily="18" charset="0"/>
                <a:cs typeface="Times New Roman" panose="02020603050405020304" pitchFamily="18" charset="0"/>
              </a:rPr>
              <a:t>Source</a:t>
            </a:r>
            <a:r>
              <a:rPr lang="fr-FR" sz="1400" dirty="0">
                <a:latin typeface="Times New Roman" panose="02020603050405020304" pitchFamily="18" charset="0"/>
                <a:cs typeface="Times New Roman" panose="02020603050405020304" pitchFamily="18" charset="0"/>
              </a:rPr>
              <a:t>: Planche « Diagnostic du paludisme »</a:t>
            </a:r>
          </a:p>
        </p:txBody>
      </p:sp>
      <p:sp>
        <p:nvSpPr>
          <p:cNvPr id="4" name="Espace réservé du numéro de diapositive 3"/>
          <p:cNvSpPr>
            <a:spLocks noGrp="1"/>
          </p:cNvSpPr>
          <p:nvPr>
            <p:ph type="sldNum" sz="quarter" idx="12"/>
          </p:nvPr>
        </p:nvSpPr>
        <p:spPr/>
        <p:txBody>
          <a:bodyPr/>
          <a:lstStyle/>
          <a:p>
            <a:r>
              <a:rPr lang="fr-FR" sz="1200" noProof="0" dirty="0"/>
              <a:t>11</a:t>
            </a:r>
            <a:endParaRPr lang="fr-FR" noProof="0" dirty="0"/>
          </a:p>
        </p:txBody>
      </p:sp>
      <p:sp>
        <p:nvSpPr>
          <p:cNvPr id="8" name="ZoneTexte 7">
            <a:extLst>
              <a:ext uri="{FF2B5EF4-FFF2-40B4-BE49-F238E27FC236}">
                <a16:creationId xmlns:a16="http://schemas.microsoft.com/office/drawing/2014/main" id="{84B52D88-5B9E-475F-8032-76DD7F4139D7}"/>
              </a:ext>
            </a:extLst>
          </p:cNvPr>
          <p:cNvSpPr txBox="1"/>
          <p:nvPr/>
        </p:nvSpPr>
        <p:spPr>
          <a:xfrm>
            <a:off x="4176112" y="1690689"/>
            <a:ext cx="4172984" cy="1704569"/>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Hématie parasitée plus grande que l’hématie non parasitée.</a:t>
            </a:r>
          </a:p>
          <a:p>
            <a:pPr marL="285750" indent="-285750" algn="just">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Hématie souvent ovale, déformée, avec des franges aux pôles.</a:t>
            </a:r>
            <a:endParaRPr lang="fr-FR" sz="1400" dirty="0">
              <a:latin typeface="Times New Roman" panose="02020603050405020304" pitchFamily="18" charset="0"/>
              <a:cs typeface="Times New Roman" panose="02020603050405020304" pitchFamily="18" charset="0"/>
            </a:endParaRPr>
          </a:p>
        </p:txBody>
      </p:sp>
      <p:sp>
        <p:nvSpPr>
          <p:cNvPr id="10" name="ZoneTexte 9">
            <a:extLst>
              <a:ext uri="{FF2B5EF4-FFF2-40B4-BE49-F238E27FC236}">
                <a16:creationId xmlns:a16="http://schemas.microsoft.com/office/drawing/2014/main" id="{5E7E9BCD-C561-62BE-BE12-5F178D6EC7BC}"/>
              </a:ext>
            </a:extLst>
          </p:cNvPr>
          <p:cNvSpPr txBox="1"/>
          <p:nvPr/>
        </p:nvSpPr>
        <p:spPr>
          <a:xfrm>
            <a:off x="4286949" y="3998642"/>
            <a:ext cx="3560000" cy="1289071"/>
          </a:xfrm>
          <a:prstGeom prst="rect">
            <a:avLst/>
          </a:prstGeom>
          <a:noFill/>
        </p:spPr>
        <p:txBody>
          <a:bodyPr wrap="square" rtlCol="0">
            <a:spAutoFit/>
          </a:bodyPr>
          <a:lstStyle/>
          <a:p>
            <a:pPr>
              <a:lnSpc>
                <a:spcPct val="150000"/>
              </a:lnSpc>
            </a:pPr>
            <a:r>
              <a:rPr lang="fr-FR" dirty="0">
                <a:latin typeface="Times New Roman" panose="02020603050405020304" pitchFamily="18" charset="0"/>
                <a:cs typeface="Times New Roman" panose="02020603050405020304" pitchFamily="18" charset="0"/>
              </a:rPr>
              <a:t>Trophozoïte</a:t>
            </a:r>
          </a:p>
          <a:p>
            <a:pPr marL="285750" indent="-285750">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Forme plutôt ovale et compacte.</a:t>
            </a:r>
          </a:p>
          <a:p>
            <a:pPr marL="285750" indent="-285750">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Granulations de James.</a:t>
            </a:r>
            <a:endParaRPr lang="fr-FR"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wrap="square" lIns="0" tIns="0" rIns="0" bIns="0"/>
          <a:lstStyle/>
          <a:p>
            <a:pPr algn="ctr">
              <a:spcAft>
                <a:spcPts val="400"/>
              </a:spcAft>
              <a:defRPr sz="3000"/>
            </a:pPr>
            <a:r>
              <a:rPr lang="fr-FR" noProof="0" dirty="0">
                <a:latin typeface="Times New Roman" panose="02020603050405020304" pitchFamily="18" charset="0"/>
                <a:cs typeface="Times New Roman" panose="02020603050405020304" pitchFamily="18" charset="0"/>
              </a:rPr>
              <a:t>5. PLASMODIUM OVALE</a:t>
            </a:r>
          </a:p>
        </p:txBody>
      </p:sp>
      <p:pic>
        <p:nvPicPr>
          <p:cNvPr id="6" name="Image 6" descr="P. ovale : schizontes/rosaces (gauche), gamétocytes (droite)"/>
          <p:cNvPicPr>
            <a:picLocks noChangeAspect="1"/>
          </p:cNvPicPr>
          <p:nvPr/>
        </p:nvPicPr>
        <p:blipFill>
          <a:blip r:embed="rId3"/>
          <a:stretch>
            <a:fillRect/>
          </a:stretch>
        </p:blipFill>
        <p:spPr>
          <a:xfrm>
            <a:off x="213711" y="1644879"/>
            <a:ext cx="3545000" cy="3130242"/>
          </a:xfrm>
          <a:prstGeom prst="rect">
            <a:avLst/>
          </a:prstGeom>
        </p:spPr>
      </p:pic>
      <p:sp>
        <p:nvSpPr>
          <p:cNvPr id="7" name="ZoneTexte 6"/>
          <p:cNvSpPr txBox="1"/>
          <p:nvPr/>
        </p:nvSpPr>
        <p:spPr>
          <a:xfrm>
            <a:off x="213711" y="4950000"/>
            <a:ext cx="3560000" cy="861774"/>
          </a:xfrm>
          <a:prstGeom prst="rect">
            <a:avLst/>
          </a:prstGeom>
          <a:noFill/>
        </p:spPr>
        <p:txBody>
          <a:bodyPr wrap="square" rtlCol="0">
            <a:spAutoFit/>
          </a:bodyPr>
          <a:lstStyle/>
          <a:p>
            <a:r>
              <a:rPr lang="fr-FR" b="1" noProof="0" dirty="0">
                <a:latin typeface="Times New Roman" panose="02020603050405020304" pitchFamily="18" charset="0"/>
                <a:cs typeface="Times New Roman" panose="02020603050405020304" pitchFamily="18" charset="0"/>
              </a:rPr>
              <a:t>Fig. </a:t>
            </a:r>
            <a:r>
              <a:rPr lang="fr-FR" b="1" dirty="0">
                <a:latin typeface="Times New Roman" panose="02020603050405020304" pitchFamily="18" charset="0"/>
                <a:cs typeface="Times New Roman" panose="02020603050405020304" pitchFamily="18" charset="0"/>
              </a:rPr>
              <a:t>8</a:t>
            </a:r>
            <a:r>
              <a:rPr lang="fr-FR" b="1" noProof="0" dirty="0">
                <a:latin typeface="Times New Roman" panose="02020603050405020304" pitchFamily="18" charset="0"/>
                <a:cs typeface="Times New Roman" panose="02020603050405020304" pitchFamily="18" charset="0"/>
              </a:rPr>
              <a:t> </a:t>
            </a:r>
            <a:r>
              <a:rPr lang="fr-FR" noProof="0" dirty="0">
                <a:latin typeface="Times New Roman" panose="02020603050405020304" pitchFamily="18" charset="0"/>
                <a:cs typeface="Times New Roman" panose="02020603050405020304" pitchFamily="18" charset="0"/>
              </a:rPr>
              <a:t>: P. ovale </a:t>
            </a:r>
            <a:r>
              <a:rPr lang="fr-FR" dirty="0">
                <a:latin typeface="Times New Roman" panose="02020603050405020304" pitchFamily="18" charset="0"/>
                <a:cs typeface="Times New Roman" panose="02020603050405020304" pitchFamily="18" charset="0"/>
              </a:rPr>
              <a:t>-</a:t>
            </a:r>
            <a:r>
              <a:rPr lang="fr-FR" noProof="0" dirty="0">
                <a:latin typeface="Times New Roman" panose="02020603050405020304" pitchFamily="18" charset="0"/>
                <a:cs typeface="Times New Roman" panose="02020603050405020304" pitchFamily="18" charset="0"/>
              </a:rPr>
              <a:t> schizontes et gamétocytes</a:t>
            </a:r>
            <a:endParaRPr lang="fr-FR" dirty="0">
              <a:latin typeface="Times New Roman" panose="02020603050405020304" pitchFamily="18" charset="0"/>
              <a:cs typeface="Times New Roman" panose="02020603050405020304" pitchFamily="18" charset="0"/>
            </a:endParaRPr>
          </a:p>
          <a:p>
            <a:r>
              <a:rPr lang="fr-FR" sz="1400" b="1" dirty="0">
                <a:latin typeface="Times New Roman" panose="02020603050405020304" pitchFamily="18" charset="0"/>
                <a:cs typeface="Times New Roman" panose="02020603050405020304" pitchFamily="18" charset="0"/>
              </a:rPr>
              <a:t>Source</a:t>
            </a:r>
            <a:r>
              <a:rPr lang="fr-FR" sz="1400" dirty="0">
                <a:latin typeface="Times New Roman" panose="02020603050405020304" pitchFamily="18" charset="0"/>
                <a:cs typeface="Times New Roman" panose="02020603050405020304" pitchFamily="18" charset="0"/>
              </a:rPr>
              <a:t>: Planche « Diagnostic du paludisme »</a:t>
            </a:r>
          </a:p>
        </p:txBody>
      </p:sp>
      <p:sp>
        <p:nvSpPr>
          <p:cNvPr id="4" name="Espace réservé du numéro de diapositive 3"/>
          <p:cNvSpPr>
            <a:spLocks noGrp="1"/>
          </p:cNvSpPr>
          <p:nvPr>
            <p:ph type="sldNum" sz="quarter" idx="12"/>
          </p:nvPr>
        </p:nvSpPr>
        <p:spPr/>
        <p:txBody>
          <a:bodyPr/>
          <a:lstStyle/>
          <a:p>
            <a:r>
              <a:rPr lang="fr-FR" sz="1200" noProof="0" dirty="0"/>
              <a:t>12</a:t>
            </a:r>
            <a:endParaRPr lang="fr-FR" noProof="0" dirty="0"/>
          </a:p>
        </p:txBody>
      </p:sp>
      <p:sp>
        <p:nvSpPr>
          <p:cNvPr id="8" name="ZoneTexte 7">
            <a:extLst>
              <a:ext uri="{FF2B5EF4-FFF2-40B4-BE49-F238E27FC236}">
                <a16:creationId xmlns:a16="http://schemas.microsoft.com/office/drawing/2014/main" id="{A8D57F6C-0848-7B27-C391-1BEC98CE1896}"/>
              </a:ext>
            </a:extLst>
          </p:cNvPr>
          <p:cNvSpPr txBox="1"/>
          <p:nvPr/>
        </p:nvSpPr>
        <p:spPr>
          <a:xfrm>
            <a:off x="4357030" y="1690689"/>
            <a:ext cx="3560000" cy="3366563"/>
          </a:xfrm>
          <a:prstGeom prst="rect">
            <a:avLst/>
          </a:prstGeom>
          <a:noFill/>
        </p:spPr>
        <p:txBody>
          <a:bodyPr wrap="square" rtlCol="0">
            <a:spAutoFit/>
          </a:bodyPr>
          <a:lstStyle/>
          <a:p>
            <a:pPr>
              <a:lnSpc>
                <a:spcPct val="150000"/>
              </a:lnSpc>
            </a:pPr>
            <a:r>
              <a:rPr lang="fr-FR" dirty="0">
                <a:latin typeface="Times New Roman" panose="02020603050405020304" pitchFamily="18" charset="0"/>
                <a:cs typeface="Times New Roman" panose="02020603050405020304" pitchFamily="18" charset="0"/>
              </a:rPr>
              <a:t>Schizonte</a:t>
            </a:r>
          </a:p>
          <a:p>
            <a:pPr marL="285750" indent="-285750">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Forme arrondie, généralement centrale.</a:t>
            </a:r>
          </a:p>
          <a:p>
            <a:pPr marL="285750" indent="-285750">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4 à 12 mérozoïtes, à disposition irrégulière.</a:t>
            </a:r>
          </a:p>
          <a:p>
            <a:pPr>
              <a:lnSpc>
                <a:spcPct val="150000"/>
              </a:lnSpc>
            </a:pPr>
            <a:endParaRPr lang="fr-FR" dirty="0">
              <a:latin typeface="Times New Roman" panose="02020603050405020304" pitchFamily="18" charset="0"/>
              <a:cs typeface="Times New Roman" panose="02020603050405020304" pitchFamily="18" charset="0"/>
            </a:endParaRPr>
          </a:p>
          <a:p>
            <a:pPr>
              <a:lnSpc>
                <a:spcPct val="150000"/>
              </a:lnSpc>
            </a:pPr>
            <a:r>
              <a:rPr lang="fr-FR" dirty="0">
                <a:latin typeface="Times New Roman" panose="02020603050405020304" pitchFamily="18" charset="0"/>
                <a:cs typeface="Times New Roman" panose="02020603050405020304" pitchFamily="18" charset="0"/>
              </a:rPr>
              <a:t>Gametocyte</a:t>
            </a:r>
          </a:p>
          <a:p>
            <a:pPr marL="285750" indent="-285750">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Forme arrondie avec pigment.</a:t>
            </a:r>
            <a:endParaRPr lang="fr-FR"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wrap="square" lIns="0" tIns="0" rIns="0" bIns="0"/>
          <a:lstStyle/>
          <a:p>
            <a:pPr algn="ctr">
              <a:spcAft>
                <a:spcPts val="400"/>
              </a:spcAft>
              <a:defRPr sz="3000"/>
            </a:pPr>
            <a:r>
              <a:rPr lang="fr-FR" noProof="0" dirty="0">
                <a:latin typeface="Times New Roman" panose="02020603050405020304" pitchFamily="18" charset="0"/>
                <a:cs typeface="Times New Roman" panose="02020603050405020304" pitchFamily="18" charset="0"/>
              </a:rPr>
              <a:t>6. PLASMODIUM VIVAX</a:t>
            </a:r>
          </a:p>
        </p:txBody>
      </p:sp>
      <p:pic>
        <p:nvPicPr>
          <p:cNvPr id="6" name="Image 6" descr="P. vivax : trophozoïtes jeunes (gauche) et âgés (droite)"/>
          <p:cNvPicPr>
            <a:picLocks noChangeAspect="1"/>
          </p:cNvPicPr>
          <p:nvPr/>
        </p:nvPicPr>
        <p:blipFill>
          <a:blip r:embed="rId3"/>
          <a:stretch>
            <a:fillRect/>
          </a:stretch>
        </p:blipFill>
        <p:spPr>
          <a:xfrm>
            <a:off x="213711" y="1613153"/>
            <a:ext cx="3545000" cy="3193693"/>
          </a:xfrm>
          <a:prstGeom prst="rect">
            <a:avLst/>
          </a:prstGeom>
        </p:spPr>
      </p:pic>
      <p:sp>
        <p:nvSpPr>
          <p:cNvPr id="7" name="ZoneTexte 6"/>
          <p:cNvSpPr txBox="1"/>
          <p:nvPr/>
        </p:nvSpPr>
        <p:spPr>
          <a:xfrm>
            <a:off x="213711" y="4950000"/>
            <a:ext cx="3560000" cy="861774"/>
          </a:xfrm>
          <a:prstGeom prst="rect">
            <a:avLst/>
          </a:prstGeom>
          <a:noFill/>
        </p:spPr>
        <p:txBody>
          <a:bodyPr wrap="square" rtlCol="0">
            <a:spAutoFit/>
          </a:bodyPr>
          <a:lstStyle/>
          <a:p>
            <a:r>
              <a:rPr lang="fr-FR" b="1" noProof="0" dirty="0">
                <a:latin typeface="Times New Roman" panose="02020603050405020304" pitchFamily="18" charset="0"/>
                <a:cs typeface="Times New Roman" panose="02020603050405020304" pitchFamily="18" charset="0"/>
              </a:rPr>
              <a:t>Fig. </a:t>
            </a:r>
            <a:r>
              <a:rPr lang="fr-FR" b="1" dirty="0">
                <a:latin typeface="Times New Roman" panose="02020603050405020304" pitchFamily="18" charset="0"/>
                <a:cs typeface="Times New Roman" panose="02020603050405020304" pitchFamily="18" charset="0"/>
              </a:rPr>
              <a:t>9</a:t>
            </a:r>
            <a:r>
              <a:rPr lang="fr-FR" b="1" noProof="0" dirty="0">
                <a:latin typeface="Times New Roman" panose="02020603050405020304" pitchFamily="18" charset="0"/>
                <a:cs typeface="Times New Roman" panose="02020603050405020304" pitchFamily="18" charset="0"/>
              </a:rPr>
              <a:t> : </a:t>
            </a:r>
            <a:r>
              <a:rPr lang="fr-FR" noProof="0" dirty="0">
                <a:latin typeface="Times New Roman" panose="02020603050405020304" pitchFamily="18" charset="0"/>
                <a:cs typeface="Times New Roman" panose="02020603050405020304" pitchFamily="18" charset="0"/>
              </a:rPr>
              <a:t>P. vivax - trophozoïtes jeunes et âgés</a:t>
            </a:r>
          </a:p>
          <a:p>
            <a:r>
              <a:rPr lang="fr-FR" sz="1400" b="1" dirty="0">
                <a:latin typeface="Times New Roman" panose="02020603050405020304" pitchFamily="18" charset="0"/>
                <a:cs typeface="Times New Roman" panose="02020603050405020304" pitchFamily="18" charset="0"/>
              </a:rPr>
              <a:t>Source</a:t>
            </a:r>
            <a:r>
              <a:rPr lang="fr-FR" sz="1400" dirty="0">
                <a:latin typeface="Times New Roman" panose="02020603050405020304" pitchFamily="18" charset="0"/>
                <a:cs typeface="Times New Roman" panose="02020603050405020304" pitchFamily="18" charset="0"/>
              </a:rPr>
              <a:t>: Planche « Diagnostic du paludisme »</a:t>
            </a:r>
          </a:p>
        </p:txBody>
      </p:sp>
      <p:sp>
        <p:nvSpPr>
          <p:cNvPr id="4" name="Espace réservé du numéro de diapositive 3"/>
          <p:cNvSpPr>
            <a:spLocks noGrp="1"/>
          </p:cNvSpPr>
          <p:nvPr>
            <p:ph type="sldNum" sz="quarter" idx="12"/>
          </p:nvPr>
        </p:nvSpPr>
        <p:spPr/>
        <p:txBody>
          <a:bodyPr/>
          <a:lstStyle/>
          <a:p>
            <a:r>
              <a:rPr lang="fr-FR" sz="1200" noProof="0" dirty="0"/>
              <a:t>13</a:t>
            </a:r>
            <a:endParaRPr lang="fr-FR" noProof="0" dirty="0"/>
          </a:p>
        </p:txBody>
      </p:sp>
      <p:sp>
        <p:nvSpPr>
          <p:cNvPr id="8" name="ZoneTexte 7">
            <a:extLst>
              <a:ext uri="{FF2B5EF4-FFF2-40B4-BE49-F238E27FC236}">
                <a16:creationId xmlns:a16="http://schemas.microsoft.com/office/drawing/2014/main" id="{6C87F9D0-F45B-BB32-3D79-0875700E06EB}"/>
              </a:ext>
            </a:extLst>
          </p:cNvPr>
          <p:cNvSpPr txBox="1"/>
          <p:nvPr/>
        </p:nvSpPr>
        <p:spPr>
          <a:xfrm>
            <a:off x="4219892" y="1935124"/>
            <a:ext cx="3834277" cy="3366563"/>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 Hématie parasitée plus grande que l’hématie non parasitée.</a:t>
            </a:r>
          </a:p>
          <a:p>
            <a:pPr marL="285750" indent="-285750" algn="just">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Hématie pouvant être déformée.</a:t>
            </a:r>
          </a:p>
          <a:p>
            <a:pPr>
              <a:lnSpc>
                <a:spcPct val="150000"/>
              </a:lnSpc>
            </a:pPr>
            <a:endParaRPr lang="fr-FR" dirty="0">
              <a:latin typeface="Times New Roman" panose="02020603050405020304" pitchFamily="18" charset="0"/>
              <a:cs typeface="Times New Roman" panose="02020603050405020304" pitchFamily="18" charset="0"/>
            </a:endParaRPr>
          </a:p>
          <a:p>
            <a:pPr>
              <a:lnSpc>
                <a:spcPct val="150000"/>
              </a:lnSpc>
            </a:pPr>
            <a:r>
              <a:rPr lang="fr-FR" dirty="0">
                <a:latin typeface="Times New Roman" panose="02020603050405020304" pitchFamily="18" charset="0"/>
                <a:cs typeface="Times New Roman" panose="02020603050405020304" pitchFamily="18" charset="0"/>
              </a:rPr>
              <a:t>Trophozoïte</a:t>
            </a:r>
          </a:p>
          <a:p>
            <a:pPr marL="285750" indent="-285750">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Forme jeune en anneau.</a:t>
            </a:r>
          </a:p>
          <a:p>
            <a:pPr marL="285750" indent="-285750">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Trophozoïte âgé amiboïde.</a:t>
            </a:r>
          </a:p>
          <a:p>
            <a:pPr marL="285750" indent="-285750">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Granulations de Schüffner.</a:t>
            </a:r>
            <a:endParaRPr lang="fr-FR"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wrap="square" lIns="0" tIns="0" rIns="0" bIns="0"/>
          <a:lstStyle/>
          <a:p>
            <a:pPr algn="ctr">
              <a:spcAft>
                <a:spcPts val="400"/>
              </a:spcAft>
              <a:defRPr sz="3000"/>
            </a:pPr>
            <a:r>
              <a:rPr lang="fr-FR" noProof="0" dirty="0"/>
              <a:t>6. </a:t>
            </a:r>
            <a:r>
              <a:rPr lang="fr-FR" noProof="0" dirty="0">
                <a:latin typeface="Times New Roman" panose="02020603050405020304" pitchFamily="18" charset="0"/>
                <a:cs typeface="Times New Roman" panose="02020603050405020304" pitchFamily="18" charset="0"/>
              </a:rPr>
              <a:t>PLASMODIUM</a:t>
            </a:r>
            <a:r>
              <a:rPr lang="fr-FR" noProof="0" dirty="0"/>
              <a:t> VIVAX</a:t>
            </a:r>
          </a:p>
        </p:txBody>
      </p:sp>
      <p:pic>
        <p:nvPicPr>
          <p:cNvPr id="6" name="Image 6" descr="P. vivax : schizontes/rosaces (gauche), gamétocytes (droite)"/>
          <p:cNvPicPr>
            <a:picLocks noChangeAspect="1"/>
          </p:cNvPicPr>
          <p:nvPr/>
        </p:nvPicPr>
        <p:blipFill>
          <a:blip r:embed="rId3"/>
          <a:stretch>
            <a:fillRect/>
          </a:stretch>
        </p:blipFill>
        <p:spPr>
          <a:xfrm>
            <a:off x="213711" y="1634444"/>
            <a:ext cx="3545000" cy="3151111"/>
          </a:xfrm>
          <a:prstGeom prst="rect">
            <a:avLst/>
          </a:prstGeom>
        </p:spPr>
      </p:pic>
      <p:sp>
        <p:nvSpPr>
          <p:cNvPr id="7" name="ZoneTexte 6"/>
          <p:cNvSpPr txBox="1"/>
          <p:nvPr/>
        </p:nvSpPr>
        <p:spPr>
          <a:xfrm>
            <a:off x="213711" y="4936145"/>
            <a:ext cx="3560000" cy="861774"/>
          </a:xfrm>
          <a:prstGeom prst="rect">
            <a:avLst/>
          </a:prstGeom>
          <a:noFill/>
        </p:spPr>
        <p:txBody>
          <a:bodyPr wrap="square" rtlCol="0">
            <a:spAutoFit/>
          </a:bodyPr>
          <a:lstStyle/>
          <a:p>
            <a:r>
              <a:rPr lang="fr-FR" b="1" noProof="0" dirty="0">
                <a:latin typeface="Times New Roman" panose="02020603050405020304" pitchFamily="18" charset="0"/>
                <a:cs typeface="Times New Roman" panose="02020603050405020304" pitchFamily="18" charset="0"/>
              </a:rPr>
              <a:t>Fig. </a:t>
            </a:r>
            <a:r>
              <a:rPr lang="fr-FR" b="1" dirty="0">
                <a:latin typeface="Times New Roman" panose="02020603050405020304" pitchFamily="18" charset="0"/>
                <a:cs typeface="Times New Roman" panose="02020603050405020304" pitchFamily="18" charset="0"/>
              </a:rPr>
              <a:t>10</a:t>
            </a:r>
            <a:r>
              <a:rPr lang="fr-FR" b="1" noProof="0" dirty="0">
                <a:latin typeface="Times New Roman" panose="02020603050405020304" pitchFamily="18" charset="0"/>
                <a:cs typeface="Times New Roman" panose="02020603050405020304" pitchFamily="18" charset="0"/>
              </a:rPr>
              <a:t> : </a:t>
            </a:r>
            <a:r>
              <a:rPr lang="fr-FR" noProof="0" dirty="0">
                <a:latin typeface="Times New Roman" panose="02020603050405020304" pitchFamily="18" charset="0"/>
                <a:cs typeface="Times New Roman" panose="02020603050405020304" pitchFamily="18" charset="0"/>
              </a:rPr>
              <a:t>P. vivax </a:t>
            </a:r>
            <a:r>
              <a:rPr lang="fr-FR" dirty="0">
                <a:latin typeface="Times New Roman" panose="02020603050405020304" pitchFamily="18" charset="0"/>
                <a:cs typeface="Times New Roman" panose="02020603050405020304" pitchFamily="18" charset="0"/>
              </a:rPr>
              <a:t>-</a:t>
            </a:r>
            <a:r>
              <a:rPr lang="fr-FR" noProof="0" dirty="0">
                <a:latin typeface="Times New Roman" panose="02020603050405020304" pitchFamily="18" charset="0"/>
                <a:cs typeface="Times New Roman" panose="02020603050405020304" pitchFamily="18" charset="0"/>
              </a:rPr>
              <a:t> schizontes et gamétocytes</a:t>
            </a:r>
          </a:p>
          <a:p>
            <a:r>
              <a:rPr lang="fr-FR" sz="1400" b="1" dirty="0">
                <a:latin typeface="Times New Roman" panose="02020603050405020304" pitchFamily="18" charset="0"/>
                <a:cs typeface="Times New Roman" panose="02020603050405020304" pitchFamily="18" charset="0"/>
              </a:rPr>
              <a:t>Source: </a:t>
            </a:r>
            <a:r>
              <a:rPr lang="fr-FR" sz="1400" dirty="0">
                <a:latin typeface="Times New Roman" panose="02020603050405020304" pitchFamily="18" charset="0"/>
                <a:cs typeface="Times New Roman" panose="02020603050405020304" pitchFamily="18" charset="0"/>
              </a:rPr>
              <a:t>Planche « Diagnostic du paludisme »</a:t>
            </a:r>
            <a:endParaRPr lang="fr-FR" sz="1400" noProof="0" dirty="0">
              <a:latin typeface="Times New Roman" panose="02020603050405020304" pitchFamily="18" charset="0"/>
              <a:cs typeface="Times New Roman" panose="02020603050405020304" pitchFamily="18" charset="0"/>
            </a:endParaRPr>
          </a:p>
        </p:txBody>
      </p:sp>
      <p:sp>
        <p:nvSpPr>
          <p:cNvPr id="4" name="Espace réservé du numéro de diapositive 3"/>
          <p:cNvSpPr>
            <a:spLocks noGrp="1"/>
          </p:cNvSpPr>
          <p:nvPr>
            <p:ph type="sldNum" sz="quarter" idx="12"/>
          </p:nvPr>
        </p:nvSpPr>
        <p:spPr/>
        <p:txBody>
          <a:bodyPr/>
          <a:lstStyle/>
          <a:p>
            <a:r>
              <a:rPr lang="fr-FR" sz="1200" noProof="0" dirty="0"/>
              <a:t>14</a:t>
            </a:r>
            <a:endParaRPr lang="fr-FR" noProof="0" dirty="0"/>
          </a:p>
        </p:txBody>
      </p:sp>
      <p:sp>
        <p:nvSpPr>
          <p:cNvPr id="8" name="ZoneTexte 7">
            <a:extLst>
              <a:ext uri="{FF2B5EF4-FFF2-40B4-BE49-F238E27FC236}">
                <a16:creationId xmlns:a16="http://schemas.microsoft.com/office/drawing/2014/main" id="{54F1692C-B3C8-33FB-8C13-A9078A234FFE}"/>
              </a:ext>
            </a:extLst>
          </p:cNvPr>
          <p:cNvSpPr txBox="1"/>
          <p:nvPr/>
        </p:nvSpPr>
        <p:spPr>
          <a:xfrm>
            <a:off x="4173650" y="1634444"/>
            <a:ext cx="3560000" cy="3366563"/>
          </a:xfrm>
          <a:prstGeom prst="rect">
            <a:avLst/>
          </a:prstGeom>
          <a:noFill/>
        </p:spPr>
        <p:txBody>
          <a:bodyPr wrap="square" rtlCol="0">
            <a:spAutoFit/>
          </a:bodyPr>
          <a:lstStyle/>
          <a:p>
            <a:pPr>
              <a:lnSpc>
                <a:spcPct val="150000"/>
              </a:lnSpc>
            </a:pPr>
            <a:r>
              <a:rPr lang="fr-FR" dirty="0">
                <a:latin typeface="Times New Roman" panose="02020603050405020304" pitchFamily="18" charset="0"/>
                <a:cs typeface="Times New Roman" panose="02020603050405020304" pitchFamily="18" charset="0"/>
              </a:rPr>
              <a:t>Schizonte</a:t>
            </a:r>
          </a:p>
          <a:p>
            <a:pPr marL="285750" indent="-285750">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Forme volumineuse.</a:t>
            </a:r>
          </a:p>
          <a:p>
            <a:pPr marL="285750" indent="-285750">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12 à 18 mérozoïtes.</a:t>
            </a:r>
          </a:p>
          <a:p>
            <a:pPr marL="285750" indent="-285750">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Pigment malarique présent.</a:t>
            </a:r>
          </a:p>
          <a:p>
            <a:pPr>
              <a:lnSpc>
                <a:spcPct val="150000"/>
              </a:lnSpc>
            </a:pPr>
            <a:endParaRPr lang="fr-FR" dirty="0">
              <a:latin typeface="Times New Roman" panose="02020603050405020304" pitchFamily="18" charset="0"/>
              <a:cs typeface="Times New Roman" panose="02020603050405020304" pitchFamily="18" charset="0"/>
            </a:endParaRPr>
          </a:p>
          <a:p>
            <a:pPr>
              <a:lnSpc>
                <a:spcPct val="150000"/>
              </a:lnSpc>
            </a:pPr>
            <a:endParaRPr lang="fr-FR" dirty="0">
              <a:latin typeface="Times New Roman" panose="02020603050405020304" pitchFamily="18" charset="0"/>
              <a:cs typeface="Times New Roman" panose="02020603050405020304" pitchFamily="18" charset="0"/>
            </a:endParaRPr>
          </a:p>
          <a:p>
            <a:pPr>
              <a:lnSpc>
                <a:spcPct val="150000"/>
              </a:lnSpc>
            </a:pPr>
            <a:r>
              <a:rPr lang="fr-FR" dirty="0">
                <a:latin typeface="Times New Roman" panose="02020603050405020304" pitchFamily="18" charset="0"/>
                <a:cs typeface="Times New Roman" panose="02020603050405020304" pitchFamily="18" charset="0"/>
              </a:rPr>
              <a:t>Gametocyte</a:t>
            </a:r>
          </a:p>
          <a:p>
            <a:pPr marL="285750" indent="-285750">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Forme arrondie avec pigment.</a:t>
            </a:r>
            <a:endParaRPr lang="fr-FR" sz="1400" noProof="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wrap="square" lIns="0" tIns="0" rIns="0" bIns="0"/>
          <a:lstStyle/>
          <a:p>
            <a:pPr algn="ctr"/>
            <a:r>
              <a:rPr lang="fr-FR" noProof="0" dirty="0">
                <a:latin typeface="Times New Roman" panose="02020603050405020304" pitchFamily="18" charset="0"/>
                <a:cs typeface="Times New Roman" panose="02020603050405020304" pitchFamily="18" charset="0"/>
              </a:rPr>
              <a:t>RÉCAPITULATIF</a:t>
            </a:r>
          </a:p>
        </p:txBody>
      </p:sp>
      <p:sp>
        <p:nvSpPr>
          <p:cNvPr id="4" name="Espace réservé du numéro de diapositive 3"/>
          <p:cNvSpPr>
            <a:spLocks noGrp="1"/>
          </p:cNvSpPr>
          <p:nvPr>
            <p:ph type="sldNum" sz="quarter" idx="12"/>
          </p:nvPr>
        </p:nvSpPr>
        <p:spPr/>
        <p:txBody>
          <a:bodyPr/>
          <a:lstStyle/>
          <a:p>
            <a:r>
              <a:rPr lang="fr-FR" sz="1200" noProof="0" dirty="0"/>
              <a:t>15</a:t>
            </a:r>
            <a:endParaRPr lang="fr-FR" noProof="0" dirty="0"/>
          </a:p>
        </p:txBody>
      </p:sp>
      <p:pic>
        <p:nvPicPr>
          <p:cNvPr id="6" name="table">
            <a:extLst>
              <a:ext uri="{FF2B5EF4-FFF2-40B4-BE49-F238E27FC236}">
                <a16:creationId xmlns:a16="http://schemas.microsoft.com/office/drawing/2014/main" id="{62F13156-8C28-1A24-1413-5B31DEE78EE6}"/>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7200"/>
                    </a14:imgEffect>
                    <a14:imgEffect>
                      <a14:saturation sat="66000"/>
                    </a14:imgEffect>
                  </a14:imgLayer>
                </a14:imgProps>
              </a:ext>
            </a:extLst>
          </a:blip>
          <a:stretch>
            <a:fillRect/>
          </a:stretch>
        </p:blipFill>
        <p:spPr>
          <a:xfrm>
            <a:off x="429490" y="1399309"/>
            <a:ext cx="8085859" cy="459970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wrap="square" lIns="0" tIns="0" rIns="0" bIns="0"/>
          <a:lstStyle/>
          <a:p>
            <a:pPr algn="ctr"/>
            <a:r>
              <a:rPr lang="fr-FR" noProof="0" dirty="0">
                <a:latin typeface="Times New Roman" panose="02020603050405020304" pitchFamily="18" charset="0"/>
                <a:cs typeface="Times New Roman" panose="02020603050405020304" pitchFamily="18" charset="0"/>
              </a:rPr>
              <a:t>CONCLUSION</a:t>
            </a:r>
          </a:p>
        </p:txBody>
      </p:sp>
      <p:sp>
        <p:nvSpPr>
          <p:cNvPr id="3" name="Espace réservé du contenu 2"/>
          <p:cNvSpPr>
            <a:spLocks noGrp="1"/>
          </p:cNvSpPr>
          <p:nvPr>
            <p:ph idx="1"/>
          </p:nvPr>
        </p:nvSpPr>
        <p:spPr>
          <a:xfrm>
            <a:off x="-3314700" y="3266498"/>
            <a:ext cx="7886700" cy="3591502"/>
          </a:xfrm>
        </p:spPr>
        <p:txBody>
          <a:bodyPr wrap="square" lIns="0" tIns="0" rIns="0" bIns="0">
            <a:noAutofit/>
          </a:bodyPr>
          <a:lstStyle/>
          <a:p>
            <a:pPr marL="0" indent="0">
              <a:buNone/>
            </a:pPr>
            <a:endParaRPr lang="fr-FR" sz="2400" dirty="0">
              <a:latin typeface="Times New Roman" panose="02020603050405020304" pitchFamily="18" charset="0"/>
              <a:cs typeface="Times New Roman" panose="02020603050405020304" pitchFamily="18" charset="0"/>
            </a:endParaRPr>
          </a:p>
          <a:p>
            <a:pPr marL="0" indent="0">
              <a:buNone/>
            </a:pPr>
            <a:endParaRPr lang="fr-FR" sz="2400" noProof="0" dirty="0">
              <a:latin typeface="Times New Roman" panose="02020603050405020304" pitchFamily="18" charset="0"/>
              <a:cs typeface="Times New Roman" panose="02020603050405020304" pitchFamily="18" charset="0"/>
            </a:endParaRPr>
          </a:p>
          <a:p>
            <a:pPr marL="0" indent="0">
              <a:buNone/>
            </a:pPr>
            <a:endParaRPr lang="fr-FR" sz="2400" dirty="0">
              <a:latin typeface="Times New Roman" panose="02020603050405020304" pitchFamily="18" charset="0"/>
              <a:cs typeface="Times New Roman" panose="02020603050405020304" pitchFamily="18" charset="0"/>
            </a:endParaRPr>
          </a:p>
        </p:txBody>
      </p:sp>
      <p:sp>
        <p:nvSpPr>
          <p:cNvPr id="8" name="ZoneTexte 7"/>
          <p:cNvSpPr txBox="1"/>
          <p:nvPr/>
        </p:nvSpPr>
        <p:spPr>
          <a:xfrm>
            <a:off x="628650" y="5800000"/>
            <a:ext cx="7886700" cy="400000"/>
          </a:xfrm>
          <a:prstGeom prst="rect">
            <a:avLst/>
          </a:prstGeom>
          <a:noFill/>
        </p:spPr>
        <p:txBody>
          <a:bodyPr wrap="square" rtlCol="0">
            <a:spAutoFit/>
          </a:bodyPr>
          <a:lstStyle/>
          <a:p>
            <a:endParaRPr lang="fr-FR" noProof="0" dirty="0"/>
          </a:p>
        </p:txBody>
      </p:sp>
      <p:sp>
        <p:nvSpPr>
          <p:cNvPr id="4" name="Espace réservé du numéro de diapositive 3"/>
          <p:cNvSpPr>
            <a:spLocks noGrp="1"/>
          </p:cNvSpPr>
          <p:nvPr>
            <p:ph type="sldNum" sz="quarter" idx="12"/>
          </p:nvPr>
        </p:nvSpPr>
        <p:spPr/>
        <p:txBody>
          <a:bodyPr/>
          <a:lstStyle/>
          <a:p>
            <a:r>
              <a:rPr lang="fr-FR" sz="1200" noProof="0" dirty="0"/>
              <a:t>16</a:t>
            </a:r>
            <a:endParaRPr lang="fr-FR" noProof="0" dirty="0"/>
          </a:p>
        </p:txBody>
      </p:sp>
      <p:sp>
        <p:nvSpPr>
          <p:cNvPr id="7" name="ZoneTexte 6">
            <a:extLst>
              <a:ext uri="{FF2B5EF4-FFF2-40B4-BE49-F238E27FC236}">
                <a16:creationId xmlns:a16="http://schemas.microsoft.com/office/drawing/2014/main" id="{3063D3B7-738C-C6F9-2A79-2051682BFADE}"/>
              </a:ext>
            </a:extLst>
          </p:cNvPr>
          <p:cNvSpPr txBox="1"/>
          <p:nvPr/>
        </p:nvSpPr>
        <p:spPr>
          <a:xfrm>
            <a:off x="538912" y="1690689"/>
            <a:ext cx="5290231" cy="461665"/>
          </a:xfrm>
          <a:prstGeom prst="rect">
            <a:avLst/>
          </a:prstGeom>
          <a:noFill/>
        </p:spPr>
        <p:txBody>
          <a:bodyPr wrap="none" rtlCol="0">
            <a:spAutoFit/>
          </a:bodyPr>
          <a:lstStyle/>
          <a:p>
            <a:r>
              <a:rPr lang="fr-FR" sz="2400" dirty="0">
                <a:latin typeface="Times New Roman" panose="02020603050405020304" pitchFamily="18" charset="0"/>
                <a:cs typeface="Times New Roman" panose="02020603050405020304" pitchFamily="18" charset="0"/>
              </a:rPr>
              <a:t>Diagnostic parasitologique du paludisme </a:t>
            </a:r>
          </a:p>
        </p:txBody>
      </p:sp>
      <p:sp>
        <p:nvSpPr>
          <p:cNvPr id="10" name="ZoneTexte 9">
            <a:extLst>
              <a:ext uri="{FF2B5EF4-FFF2-40B4-BE49-F238E27FC236}">
                <a16:creationId xmlns:a16="http://schemas.microsoft.com/office/drawing/2014/main" id="{8C5A50F2-7D64-19D4-B7B5-34BCF8C1AB15}"/>
              </a:ext>
            </a:extLst>
          </p:cNvPr>
          <p:cNvSpPr txBox="1"/>
          <p:nvPr/>
        </p:nvSpPr>
        <p:spPr>
          <a:xfrm>
            <a:off x="2585559" y="3094252"/>
            <a:ext cx="1986441" cy="461665"/>
          </a:xfrm>
          <a:prstGeom prst="rect">
            <a:avLst/>
          </a:prstGeom>
          <a:noFill/>
        </p:spPr>
        <p:txBody>
          <a:bodyPr wrap="none" rtlCol="0">
            <a:spAutoFit/>
          </a:bodyPr>
          <a:lstStyle/>
          <a:p>
            <a:r>
              <a:rPr lang="fr-FR" sz="2400" dirty="0">
                <a:latin typeface="Times New Roman" panose="02020603050405020304" pitchFamily="18" charset="0"/>
                <a:cs typeface="Times New Roman" panose="02020603050405020304" pitchFamily="18" charset="0"/>
              </a:rPr>
              <a:t>Goutte épaisse</a:t>
            </a:r>
          </a:p>
        </p:txBody>
      </p:sp>
      <p:sp>
        <p:nvSpPr>
          <p:cNvPr id="12" name="ZoneTexte 11">
            <a:extLst>
              <a:ext uri="{FF2B5EF4-FFF2-40B4-BE49-F238E27FC236}">
                <a16:creationId xmlns:a16="http://schemas.microsoft.com/office/drawing/2014/main" id="{01CF80CB-528E-D660-909B-5EB81DF5A941}"/>
              </a:ext>
            </a:extLst>
          </p:cNvPr>
          <p:cNvSpPr txBox="1"/>
          <p:nvPr/>
        </p:nvSpPr>
        <p:spPr>
          <a:xfrm>
            <a:off x="4779818" y="4165604"/>
            <a:ext cx="2098651" cy="461665"/>
          </a:xfrm>
          <a:prstGeom prst="rect">
            <a:avLst/>
          </a:prstGeom>
          <a:noFill/>
        </p:spPr>
        <p:txBody>
          <a:bodyPr wrap="none" rtlCol="0">
            <a:spAutoFit/>
          </a:bodyPr>
          <a:lstStyle/>
          <a:p>
            <a:r>
              <a:rPr lang="fr-FR" sz="2400" dirty="0">
                <a:latin typeface="Times New Roman" panose="02020603050405020304" pitchFamily="18" charset="0"/>
                <a:cs typeface="Times New Roman" panose="02020603050405020304" pitchFamily="18" charset="0"/>
              </a:rPr>
              <a:t>Frottis sanguin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28650" y="2766218"/>
            <a:ext cx="7886700" cy="1325563"/>
          </a:xfrm>
        </p:spPr>
        <p:txBody>
          <a:bodyPr/>
          <a:lstStyle/>
          <a:p>
            <a:r>
              <a:rPr lang="fr-FR" noProof="0" dirty="0">
                <a:latin typeface="Times New Roman" panose="02020603050405020304" pitchFamily="18" charset="0"/>
                <a:cs typeface="Times New Roman" panose="02020603050405020304" pitchFamily="18" charset="0"/>
              </a:rPr>
              <a:t>Merci pour votre Attention !!!!</a:t>
            </a:r>
          </a:p>
        </p:txBody>
      </p:sp>
      <p:sp>
        <p:nvSpPr>
          <p:cNvPr id="4" name="Espace réservé du numéro de diapositive 3"/>
          <p:cNvSpPr>
            <a:spLocks noGrp="1"/>
          </p:cNvSpPr>
          <p:nvPr>
            <p:ph type="sldNum" sz="quarter" idx="12"/>
          </p:nvPr>
        </p:nvSpPr>
        <p:spPr/>
        <p:txBody>
          <a:bodyPr/>
          <a:lstStyle/>
          <a:p>
            <a:r>
              <a:rPr lang="fr-FR" sz="1200" noProof="0" dirty="0"/>
              <a:t>17</a:t>
            </a:r>
            <a:endParaRPr lang="fr-FR" noProof="0" dirty="0"/>
          </a:p>
        </p:txBody>
      </p:sp>
    </p:spTree>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5254</TotalTime>
  <Words>1367</Words>
  <Application>Microsoft Office PowerPoint</Application>
  <PresentationFormat>Affichage à l'écran (4:3)</PresentationFormat>
  <Paragraphs>211</Paragraphs>
  <Slides>16</Slides>
  <Notes>13</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16</vt:i4>
      </vt:variant>
    </vt:vector>
  </HeadingPairs>
  <TitlesOfParts>
    <vt:vector size="21" baseType="lpstr">
      <vt:lpstr>Aptos</vt:lpstr>
      <vt:lpstr>Aptos Display</vt:lpstr>
      <vt:lpstr>Arial</vt:lpstr>
      <vt:lpstr>Times New Roman</vt:lpstr>
      <vt:lpstr>Thème Office</vt:lpstr>
      <vt:lpstr>Présentation PowerPoint</vt:lpstr>
      <vt:lpstr>PLAN</vt:lpstr>
      <vt:lpstr>INTRODUCTION</vt:lpstr>
      <vt:lpstr>1. GOUTTE ÉPAISSE</vt:lpstr>
      <vt:lpstr>2. FROTTIS SANGUIN</vt:lpstr>
      <vt:lpstr>3. PLASMODIUM FALCIPARUM</vt:lpstr>
      <vt:lpstr>3. PLASMODIUM FALCIPARUM</vt:lpstr>
      <vt:lpstr>4. PLASMODIUM MALARIAE</vt:lpstr>
      <vt:lpstr>4. PLASMODIUM MALARIAE</vt:lpstr>
      <vt:lpstr>5. PLASMODIUM OVALE</vt:lpstr>
      <vt:lpstr>5. PLASMODIUM OVALE</vt:lpstr>
      <vt:lpstr>6. PLASMODIUM VIVAX</vt:lpstr>
      <vt:lpstr>6. PLASMODIUM VIVAX</vt:lpstr>
      <vt:lpstr>RÉCAPITULATIF</vt:lpstr>
      <vt:lpstr>CONCLUSION</vt:lpstr>
      <vt:lpstr>Merci pour votre Attention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Déo Gratias HOUINDOTE</dc:creator>
  <cp:lastModifiedBy>Tchedrac Sedjro SINGBO</cp:lastModifiedBy>
  <cp:revision>59</cp:revision>
  <dcterms:created xsi:type="dcterms:W3CDTF">2026-08-03T10:33:18Z</dcterms:created>
  <dcterms:modified xsi:type="dcterms:W3CDTF">2026-10-06T04:57:13Z</dcterms:modified>
</cp:coreProperties>
</file>